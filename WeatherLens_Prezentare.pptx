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660"/>
  </p:normalViewPr>
  <p:slideViewPr>
    <p:cSldViewPr snapToGrid="0" snapToObjects="1">
      <p:cViewPr varScale="1">
        <p:scale>
          <a:sx n="105" d="100"/>
          <a:sy n="105" d="100"/>
        </p:scale>
        <p:origin x="99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965960"/>
            <a:ext cx="12191695" cy="3657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914400"/>
          </a:xfrm>
          <a:prstGeom prst="rect">
            <a:avLst/>
          </a:prstGeom>
          <a:noFill/>
        </p:spPr>
        <p:txBody>
          <a:bodyPr wrap="square">
            <a:spAutoFit/>
          </a:bodyPr>
          <a:lstStyle/>
          <a:p>
            <a:pPr algn="ctr"/>
            <a:r>
              <a:rPr sz="6800" b="1">
                <a:solidFill>
                  <a:srgbClr val="E2E8F0"/>
                </a:solidFill>
                <a:latin typeface="Calibri"/>
              </a:rPr>
              <a:t>☁️  WeatherLens</a:t>
            </a:r>
          </a:p>
        </p:txBody>
      </p:sp>
      <p:sp>
        <p:nvSpPr>
          <p:cNvPr id="5" name="TextBox 4"/>
          <p:cNvSpPr txBox="1"/>
          <p:nvPr/>
        </p:nvSpPr>
        <p:spPr>
          <a:xfrm>
            <a:off x="457200" y="3337560"/>
            <a:ext cx="11247120" cy="548640"/>
          </a:xfrm>
          <a:prstGeom prst="rect">
            <a:avLst/>
          </a:prstGeom>
          <a:noFill/>
        </p:spPr>
        <p:txBody>
          <a:bodyPr wrap="square">
            <a:spAutoFit/>
          </a:bodyPr>
          <a:lstStyle/>
          <a:p>
            <a:pPr algn="ctr"/>
            <a:r>
              <a:rPr sz="2800" b="0">
                <a:solidFill>
                  <a:srgbClr val="3B82F6"/>
                </a:solidFill>
                <a:latin typeface="Calibri"/>
              </a:rPr>
              <a:t>AWS Data Analytics Platform</a:t>
            </a:r>
          </a:p>
        </p:txBody>
      </p:sp>
      <p:sp>
        <p:nvSpPr>
          <p:cNvPr id="6" name="TextBox 5"/>
          <p:cNvSpPr txBox="1"/>
          <p:nvPr/>
        </p:nvSpPr>
        <p:spPr>
          <a:xfrm>
            <a:off x="457200" y="4114800"/>
            <a:ext cx="11247120" cy="457200"/>
          </a:xfrm>
          <a:prstGeom prst="rect">
            <a:avLst/>
          </a:prstGeom>
          <a:noFill/>
        </p:spPr>
        <p:txBody>
          <a:bodyPr wrap="square">
            <a:spAutoFit/>
          </a:bodyPr>
          <a:lstStyle/>
          <a:p>
            <a:pPr algn="ctr"/>
            <a:r>
              <a:rPr sz="1800" b="0">
                <a:solidFill>
                  <a:srgbClr val="94A3B8"/>
                </a:solidFill>
                <a:latin typeface="Calibri"/>
              </a:rPr>
              <a:t>Demonstrarea serviciilor AWS prin construirea unei aplicatii reale</a:t>
            </a:r>
          </a:p>
        </p:txBody>
      </p:sp>
      <p:sp>
        <p:nvSpPr>
          <p:cNvPr id="7" name="TextBox 6"/>
          <p:cNvSpPr txBox="1"/>
          <p:nvPr/>
        </p:nvSpPr>
        <p:spPr>
          <a:xfrm>
            <a:off x="457200" y="5257800"/>
            <a:ext cx="11247120" cy="457200"/>
          </a:xfrm>
          <a:prstGeom prst="rect">
            <a:avLst/>
          </a:prstGeom>
          <a:noFill/>
        </p:spPr>
        <p:txBody>
          <a:bodyPr wrap="square">
            <a:spAutoFit/>
          </a:bodyPr>
          <a:lstStyle/>
          <a:p>
            <a:pPr algn="ctr"/>
            <a:r>
              <a:rPr sz="1400" b="0">
                <a:solidFill>
                  <a:srgbClr val="64748B"/>
                </a:solidFill>
                <a:latin typeface="Calibri"/>
              </a:rPr>
              <a:t>Proiect IOC · Alex Marcean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Ce este AWS?</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Amazon Web Services — cea mai mare platforma cloud din lume</a:t>
            </a:r>
          </a:p>
        </p:txBody>
      </p:sp>
      <p:sp>
        <p:nvSpPr>
          <p:cNvPr id="6" name="Rounded Rectangle 5"/>
          <p:cNvSpPr/>
          <p:nvPr/>
        </p:nvSpPr>
        <p:spPr>
          <a:xfrm>
            <a:off x="540867" y="1828800"/>
            <a:ext cx="2606040" cy="141732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867" y="2057400"/>
            <a:ext cx="2606040" cy="548640"/>
          </a:xfrm>
          <a:prstGeom prst="rect">
            <a:avLst/>
          </a:prstGeom>
          <a:noFill/>
        </p:spPr>
        <p:txBody>
          <a:bodyPr wrap="square">
            <a:spAutoFit/>
          </a:bodyPr>
          <a:lstStyle/>
          <a:p>
            <a:pPr algn="ctr"/>
            <a:r>
              <a:rPr sz="3600" b="1">
                <a:solidFill>
                  <a:srgbClr val="3B82F6"/>
                </a:solidFill>
                <a:latin typeface="Calibri"/>
              </a:rPr>
              <a:t>200+</a:t>
            </a:r>
          </a:p>
        </p:txBody>
      </p:sp>
      <p:sp>
        <p:nvSpPr>
          <p:cNvPr id="8" name="TextBox 7"/>
          <p:cNvSpPr txBox="1"/>
          <p:nvPr/>
        </p:nvSpPr>
        <p:spPr>
          <a:xfrm>
            <a:off x="540867" y="2743200"/>
            <a:ext cx="2606040" cy="365760"/>
          </a:xfrm>
          <a:prstGeom prst="rect">
            <a:avLst/>
          </a:prstGeom>
          <a:noFill/>
        </p:spPr>
        <p:txBody>
          <a:bodyPr wrap="square">
            <a:spAutoFit/>
          </a:bodyPr>
          <a:lstStyle/>
          <a:p>
            <a:pPr algn="ctr"/>
            <a:r>
              <a:rPr sz="1300" b="0">
                <a:solidFill>
                  <a:srgbClr val="94A3B8"/>
                </a:solidFill>
                <a:latin typeface="Calibri"/>
              </a:rPr>
              <a:t>servicii cloud</a:t>
            </a:r>
          </a:p>
        </p:txBody>
      </p:sp>
      <p:sp>
        <p:nvSpPr>
          <p:cNvPr id="9" name="Rounded Rectangle 8"/>
          <p:cNvSpPr/>
          <p:nvPr/>
        </p:nvSpPr>
        <p:spPr>
          <a:xfrm>
            <a:off x="3375507" y="1828800"/>
            <a:ext cx="2606040" cy="14173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75507" y="2057400"/>
            <a:ext cx="2606040" cy="548640"/>
          </a:xfrm>
          <a:prstGeom prst="rect">
            <a:avLst/>
          </a:prstGeom>
          <a:noFill/>
        </p:spPr>
        <p:txBody>
          <a:bodyPr wrap="square">
            <a:spAutoFit/>
          </a:bodyPr>
          <a:lstStyle/>
          <a:p>
            <a:pPr algn="ctr"/>
            <a:r>
              <a:rPr sz="3600" b="1">
                <a:solidFill>
                  <a:srgbClr val="10B981"/>
                </a:solidFill>
                <a:latin typeface="Calibri"/>
              </a:rPr>
              <a:t>32</a:t>
            </a:r>
          </a:p>
        </p:txBody>
      </p:sp>
      <p:sp>
        <p:nvSpPr>
          <p:cNvPr id="11" name="TextBox 10"/>
          <p:cNvSpPr txBox="1"/>
          <p:nvPr/>
        </p:nvSpPr>
        <p:spPr>
          <a:xfrm>
            <a:off x="3375507" y="2743200"/>
            <a:ext cx="2606040" cy="365760"/>
          </a:xfrm>
          <a:prstGeom prst="rect">
            <a:avLst/>
          </a:prstGeom>
          <a:noFill/>
        </p:spPr>
        <p:txBody>
          <a:bodyPr wrap="square">
            <a:spAutoFit/>
          </a:bodyPr>
          <a:lstStyle/>
          <a:p>
            <a:pPr algn="ctr"/>
            <a:r>
              <a:rPr sz="1300" b="0">
                <a:solidFill>
                  <a:srgbClr val="94A3B8"/>
                </a:solidFill>
                <a:latin typeface="Calibri"/>
              </a:rPr>
              <a:t>regiuni globale</a:t>
            </a:r>
          </a:p>
        </p:txBody>
      </p:sp>
      <p:sp>
        <p:nvSpPr>
          <p:cNvPr id="12" name="Rounded Rectangle 11"/>
          <p:cNvSpPr/>
          <p:nvPr/>
        </p:nvSpPr>
        <p:spPr>
          <a:xfrm>
            <a:off x="6210147" y="1828800"/>
            <a:ext cx="2606040" cy="141732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0147" y="2057400"/>
            <a:ext cx="2606040" cy="548640"/>
          </a:xfrm>
          <a:prstGeom prst="rect">
            <a:avLst/>
          </a:prstGeom>
          <a:noFill/>
        </p:spPr>
        <p:txBody>
          <a:bodyPr wrap="square">
            <a:spAutoFit/>
          </a:bodyPr>
          <a:lstStyle/>
          <a:p>
            <a:pPr algn="ctr"/>
            <a:r>
              <a:rPr sz="3600" b="1">
                <a:solidFill>
                  <a:srgbClr val="F59E0B"/>
                </a:solidFill>
                <a:latin typeface="Calibri"/>
              </a:rPr>
              <a:t>#1</a:t>
            </a:r>
          </a:p>
        </p:txBody>
      </p:sp>
      <p:sp>
        <p:nvSpPr>
          <p:cNvPr id="14" name="TextBox 13"/>
          <p:cNvSpPr txBox="1"/>
          <p:nvPr/>
        </p:nvSpPr>
        <p:spPr>
          <a:xfrm>
            <a:off x="6210147" y="2743200"/>
            <a:ext cx="2606040" cy="365760"/>
          </a:xfrm>
          <a:prstGeom prst="rect">
            <a:avLst/>
          </a:prstGeom>
          <a:noFill/>
        </p:spPr>
        <p:txBody>
          <a:bodyPr wrap="square">
            <a:spAutoFit/>
          </a:bodyPr>
          <a:lstStyle/>
          <a:p>
            <a:pPr algn="ctr"/>
            <a:r>
              <a:rPr sz="1300" b="0">
                <a:solidFill>
                  <a:srgbClr val="94A3B8"/>
                </a:solidFill>
                <a:latin typeface="Calibri"/>
              </a:rPr>
              <a:t>cota de piata cloud</a:t>
            </a:r>
          </a:p>
        </p:txBody>
      </p:sp>
      <p:sp>
        <p:nvSpPr>
          <p:cNvPr id="15" name="Rounded Rectangle 14"/>
          <p:cNvSpPr/>
          <p:nvPr/>
        </p:nvSpPr>
        <p:spPr>
          <a:xfrm>
            <a:off x="9044787" y="1828800"/>
            <a:ext cx="2606040" cy="14173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44787" y="2057400"/>
            <a:ext cx="2606040" cy="548640"/>
          </a:xfrm>
          <a:prstGeom prst="rect">
            <a:avLst/>
          </a:prstGeom>
          <a:noFill/>
        </p:spPr>
        <p:txBody>
          <a:bodyPr wrap="square">
            <a:spAutoFit/>
          </a:bodyPr>
          <a:lstStyle/>
          <a:p>
            <a:pPr algn="ctr"/>
            <a:r>
              <a:rPr sz="3600" b="1">
                <a:solidFill>
                  <a:srgbClr val="EF4444"/>
                </a:solidFill>
                <a:latin typeface="Calibri"/>
              </a:rPr>
              <a:t>$100B+</a:t>
            </a:r>
          </a:p>
        </p:txBody>
      </p:sp>
      <p:sp>
        <p:nvSpPr>
          <p:cNvPr id="17" name="TextBox 16"/>
          <p:cNvSpPr txBox="1"/>
          <p:nvPr/>
        </p:nvSpPr>
        <p:spPr>
          <a:xfrm>
            <a:off x="9044787" y="2743200"/>
            <a:ext cx="2606040" cy="365760"/>
          </a:xfrm>
          <a:prstGeom prst="rect">
            <a:avLst/>
          </a:prstGeom>
          <a:noFill/>
        </p:spPr>
        <p:txBody>
          <a:bodyPr wrap="square">
            <a:spAutoFit/>
          </a:bodyPr>
          <a:lstStyle/>
          <a:p>
            <a:pPr algn="ctr"/>
            <a:r>
              <a:rPr sz="1300" b="0">
                <a:solidFill>
                  <a:srgbClr val="94A3B8"/>
                </a:solidFill>
                <a:latin typeface="Calibri"/>
              </a:rPr>
              <a:t>venit anual (2024)</a:t>
            </a:r>
          </a:p>
        </p:txBody>
      </p:sp>
      <p:sp>
        <p:nvSpPr>
          <p:cNvPr id="18" name="TextBox 17"/>
          <p:cNvSpPr txBox="1"/>
          <p:nvPr/>
        </p:nvSpPr>
        <p:spPr>
          <a:xfrm>
            <a:off x="640080" y="3657600"/>
            <a:ext cx="10972800" cy="2560320"/>
          </a:xfrm>
          <a:prstGeom prst="rect">
            <a:avLst/>
          </a:prstGeom>
          <a:noFill/>
        </p:spPr>
        <p:txBody>
          <a:bodyPr wrap="square">
            <a:spAutoFit/>
          </a:bodyPr>
          <a:lstStyle/>
          <a:p>
            <a:pPr algn="l">
              <a:spcAft>
                <a:spcPts val="800"/>
              </a:spcAft>
            </a:pPr>
            <a:r>
              <a:rPr sz="1400" dirty="0">
                <a:solidFill>
                  <a:srgbClr val="E2E8F0"/>
                </a:solidFill>
                <a:latin typeface="Calibri"/>
              </a:rPr>
              <a:t>•  </a:t>
            </a:r>
            <a:r>
              <a:rPr sz="1400" dirty="0" err="1">
                <a:solidFill>
                  <a:srgbClr val="E2E8F0"/>
                </a:solidFill>
                <a:latin typeface="Calibri"/>
              </a:rPr>
              <a:t>Platforma</a:t>
            </a:r>
            <a:r>
              <a:rPr sz="1400" dirty="0">
                <a:solidFill>
                  <a:srgbClr val="E2E8F0"/>
                </a:solidFill>
                <a:latin typeface="Calibri"/>
              </a:rPr>
              <a:t> cloud </a:t>
            </a:r>
            <a:r>
              <a:rPr sz="1400" dirty="0" err="1">
                <a:solidFill>
                  <a:srgbClr val="E2E8F0"/>
                </a:solidFill>
                <a:latin typeface="Calibri"/>
              </a:rPr>
              <a:t>lansata</a:t>
            </a:r>
            <a:r>
              <a:rPr sz="1400" dirty="0">
                <a:solidFill>
                  <a:srgbClr val="E2E8F0"/>
                </a:solidFill>
                <a:latin typeface="Calibri"/>
              </a:rPr>
              <a:t> de Amazon in 2006 — </a:t>
            </a:r>
            <a:r>
              <a:rPr sz="1400" dirty="0" err="1">
                <a:solidFill>
                  <a:srgbClr val="E2E8F0"/>
                </a:solidFill>
                <a:latin typeface="Calibri"/>
              </a:rPr>
              <a:t>pionierul</a:t>
            </a:r>
            <a:r>
              <a:rPr sz="1400" dirty="0">
                <a:solidFill>
                  <a:srgbClr val="E2E8F0"/>
                </a:solidFill>
                <a:latin typeface="Calibri"/>
              </a:rPr>
              <a:t> </a:t>
            </a:r>
            <a:r>
              <a:rPr sz="1400" dirty="0" err="1">
                <a:solidFill>
                  <a:srgbClr val="E2E8F0"/>
                </a:solidFill>
                <a:latin typeface="Calibri"/>
              </a:rPr>
              <a:t>modelului</a:t>
            </a:r>
            <a:r>
              <a:rPr sz="1400" dirty="0">
                <a:solidFill>
                  <a:srgbClr val="E2E8F0"/>
                </a:solidFill>
                <a:latin typeface="Calibri"/>
              </a:rPr>
              <a:t> infrastructure-as-a-service.</a:t>
            </a:r>
          </a:p>
          <a:p>
            <a:pPr algn="l">
              <a:spcAft>
                <a:spcPts val="800"/>
              </a:spcAft>
            </a:pPr>
            <a:r>
              <a:rPr sz="1400" dirty="0">
                <a:solidFill>
                  <a:srgbClr val="E2E8F0"/>
                </a:solidFill>
                <a:latin typeface="Calibri"/>
              </a:rPr>
              <a:t>•  </a:t>
            </a:r>
            <a:r>
              <a:rPr sz="1400" dirty="0" err="1">
                <a:solidFill>
                  <a:srgbClr val="E2E8F0"/>
                </a:solidFill>
                <a:latin typeface="Calibri"/>
              </a:rPr>
              <a:t>Oferta</a:t>
            </a:r>
            <a:r>
              <a:rPr sz="1400" dirty="0">
                <a:solidFill>
                  <a:srgbClr val="E2E8F0"/>
                </a:solidFill>
                <a:latin typeface="Calibri"/>
              </a:rPr>
              <a:t> </a:t>
            </a:r>
            <a:r>
              <a:rPr sz="1400" dirty="0" err="1">
                <a:solidFill>
                  <a:srgbClr val="E2E8F0"/>
                </a:solidFill>
                <a:latin typeface="Calibri"/>
              </a:rPr>
              <a:t>acopera</a:t>
            </a:r>
            <a:r>
              <a:rPr sz="1400" dirty="0">
                <a:solidFill>
                  <a:srgbClr val="E2E8F0"/>
                </a:solidFill>
                <a:latin typeface="Calibri"/>
              </a:rPr>
              <a:t> tot </a:t>
            </a:r>
            <a:r>
              <a:rPr sz="1400" dirty="0" err="1">
                <a:solidFill>
                  <a:srgbClr val="E2E8F0"/>
                </a:solidFill>
                <a:latin typeface="Calibri"/>
              </a:rPr>
              <a:t>ce</a:t>
            </a:r>
            <a:r>
              <a:rPr sz="1400" dirty="0">
                <a:solidFill>
                  <a:srgbClr val="E2E8F0"/>
                </a:solidFill>
                <a:latin typeface="Calibri"/>
              </a:rPr>
              <a:t> ai </a:t>
            </a:r>
            <a:r>
              <a:rPr sz="1400" dirty="0" err="1">
                <a:solidFill>
                  <a:srgbClr val="E2E8F0"/>
                </a:solidFill>
                <a:latin typeface="Calibri"/>
              </a:rPr>
              <a:t>nevoie</a:t>
            </a:r>
            <a:r>
              <a:rPr sz="1400" dirty="0">
                <a:solidFill>
                  <a:srgbClr val="E2E8F0"/>
                </a:solidFill>
                <a:latin typeface="Calibri"/>
              </a:rPr>
              <a:t>: storage, compute, </a:t>
            </a:r>
            <a:r>
              <a:rPr sz="1400" dirty="0" err="1">
                <a:solidFill>
                  <a:srgbClr val="E2E8F0"/>
                </a:solidFill>
                <a:latin typeface="Calibri"/>
              </a:rPr>
              <a:t>baze</a:t>
            </a:r>
            <a:r>
              <a:rPr sz="1400" dirty="0">
                <a:solidFill>
                  <a:srgbClr val="E2E8F0"/>
                </a:solidFill>
                <a:latin typeface="Calibri"/>
              </a:rPr>
              <a:t> de date, ML, </a:t>
            </a:r>
            <a:r>
              <a:rPr sz="1400" dirty="0" err="1">
                <a:solidFill>
                  <a:srgbClr val="E2E8F0"/>
                </a:solidFill>
                <a:latin typeface="Calibri"/>
              </a:rPr>
              <a:t>securitate</a:t>
            </a:r>
            <a:r>
              <a:rPr sz="1400" dirty="0">
                <a:solidFill>
                  <a:srgbClr val="E2E8F0"/>
                </a:solidFill>
                <a:latin typeface="Calibri"/>
              </a:rPr>
              <a:t>, </a:t>
            </a:r>
            <a:r>
              <a:rPr sz="1400" dirty="0" err="1">
                <a:solidFill>
                  <a:srgbClr val="E2E8F0"/>
                </a:solidFill>
                <a:latin typeface="Calibri"/>
              </a:rPr>
              <a:t>retele</a:t>
            </a:r>
            <a:r>
              <a:rPr sz="1400" dirty="0">
                <a:solidFill>
                  <a:srgbClr val="E2E8F0"/>
                </a:solidFill>
                <a:latin typeface="Calibri"/>
              </a:rPr>
              <a:t>, BI.</a:t>
            </a:r>
          </a:p>
          <a:p>
            <a:pPr algn="l">
              <a:spcAft>
                <a:spcPts val="800"/>
              </a:spcAft>
            </a:pPr>
            <a:r>
              <a:rPr sz="1400" dirty="0">
                <a:solidFill>
                  <a:srgbClr val="E2E8F0"/>
                </a:solidFill>
                <a:latin typeface="Calibri"/>
              </a:rPr>
              <a:t>•  </a:t>
            </a:r>
            <a:r>
              <a:rPr sz="1400" dirty="0" err="1">
                <a:solidFill>
                  <a:srgbClr val="E2E8F0"/>
                </a:solidFill>
                <a:latin typeface="Calibri"/>
              </a:rPr>
              <a:t>Modelul</a:t>
            </a:r>
            <a:r>
              <a:rPr sz="1400" dirty="0">
                <a:solidFill>
                  <a:srgbClr val="E2E8F0"/>
                </a:solidFill>
                <a:latin typeface="Calibri"/>
              </a:rPr>
              <a:t> de cost: pay-as-you-go — </a:t>
            </a:r>
            <a:r>
              <a:rPr sz="1400" dirty="0" err="1">
                <a:solidFill>
                  <a:srgbClr val="E2E8F0"/>
                </a:solidFill>
                <a:latin typeface="Calibri"/>
              </a:rPr>
              <a:t>platesti</a:t>
            </a:r>
            <a:r>
              <a:rPr sz="1400" dirty="0">
                <a:solidFill>
                  <a:srgbClr val="E2E8F0"/>
                </a:solidFill>
                <a:latin typeface="Calibri"/>
              </a:rPr>
              <a:t> exact </a:t>
            </a:r>
            <a:r>
              <a:rPr sz="1400" dirty="0" err="1">
                <a:solidFill>
                  <a:srgbClr val="E2E8F0"/>
                </a:solidFill>
                <a:latin typeface="Calibri"/>
              </a:rPr>
              <a:t>ce</a:t>
            </a:r>
            <a:r>
              <a:rPr sz="1400" dirty="0">
                <a:solidFill>
                  <a:srgbClr val="E2E8F0"/>
                </a:solidFill>
                <a:latin typeface="Calibri"/>
              </a:rPr>
              <a:t> </a:t>
            </a:r>
            <a:r>
              <a:rPr sz="1400" dirty="0" err="1">
                <a:solidFill>
                  <a:srgbClr val="E2E8F0"/>
                </a:solidFill>
                <a:latin typeface="Calibri"/>
              </a:rPr>
              <a:t>folosesti</a:t>
            </a:r>
            <a:r>
              <a:rPr sz="1400" dirty="0">
                <a:solidFill>
                  <a:srgbClr val="E2E8F0"/>
                </a:solidFill>
                <a:latin typeface="Calibri"/>
              </a:rPr>
              <a:t>, la secunda </a:t>
            </a:r>
            <a:r>
              <a:rPr sz="1400" dirty="0" err="1">
                <a:solidFill>
                  <a:srgbClr val="E2E8F0"/>
                </a:solidFill>
                <a:latin typeface="Calibri"/>
              </a:rPr>
              <a:t>sau</a:t>
            </a:r>
            <a:r>
              <a:rPr sz="1400" dirty="0">
                <a:solidFill>
                  <a:srgbClr val="E2E8F0"/>
                </a:solidFill>
                <a:latin typeface="Calibri"/>
              </a:rPr>
              <a:t> per request.</a:t>
            </a:r>
          </a:p>
          <a:p>
            <a:pPr algn="l">
              <a:spcAft>
                <a:spcPts val="800"/>
              </a:spcAft>
            </a:pPr>
            <a:r>
              <a:rPr sz="1400" dirty="0">
                <a:solidFill>
                  <a:srgbClr val="E2E8F0"/>
                </a:solidFill>
                <a:latin typeface="Calibri"/>
              </a:rPr>
              <a:t>•  </a:t>
            </a:r>
            <a:r>
              <a:rPr sz="1400" dirty="0" err="1">
                <a:solidFill>
                  <a:srgbClr val="E2E8F0"/>
                </a:solidFill>
                <a:latin typeface="Calibri"/>
              </a:rPr>
              <a:t>Folosit</a:t>
            </a:r>
            <a:r>
              <a:rPr sz="1400" dirty="0">
                <a:solidFill>
                  <a:srgbClr val="E2E8F0"/>
                </a:solidFill>
                <a:latin typeface="Calibri"/>
              </a:rPr>
              <a:t> de Netflix, Airbnb, NASA, BMW, Shell — </a:t>
            </a:r>
            <a:r>
              <a:rPr sz="1400" dirty="0" err="1">
                <a:solidFill>
                  <a:srgbClr val="E2E8F0"/>
                </a:solidFill>
                <a:latin typeface="Calibri"/>
              </a:rPr>
              <a:t>scaleaza</a:t>
            </a:r>
            <a:r>
              <a:rPr sz="1400" dirty="0">
                <a:solidFill>
                  <a:srgbClr val="E2E8F0"/>
                </a:solidFill>
                <a:latin typeface="Calibri"/>
              </a:rPr>
              <a:t> de la startup la </a:t>
            </a:r>
            <a:r>
              <a:rPr sz="1400" dirty="0" err="1">
                <a:solidFill>
                  <a:srgbClr val="E2E8F0"/>
                </a:solidFill>
                <a:latin typeface="Calibri"/>
              </a:rPr>
              <a:t>giganti</a:t>
            </a:r>
            <a:r>
              <a:rPr sz="1400" dirty="0">
                <a:solidFill>
                  <a:srgbClr val="E2E8F0"/>
                </a:solidFill>
                <a:latin typeface="Calibri"/>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Categorii de servicii AWS</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200+ servicii organizate in 8 mari categorii — WeatherLens foloseste 6</a:t>
            </a:r>
          </a:p>
        </p:txBody>
      </p:sp>
      <p:sp>
        <p:nvSpPr>
          <p:cNvPr id="6" name="Rounded Rectangle 5"/>
          <p:cNvSpPr/>
          <p:nvPr/>
        </p:nvSpPr>
        <p:spPr>
          <a:xfrm>
            <a:off x="365760" y="1783080"/>
            <a:ext cx="2788920" cy="1417320"/>
          </a:xfrm>
          <a:prstGeom prst="roundRect">
            <a:avLst>
              <a:gd name="adj" fmla="val 6000"/>
            </a:avLst>
          </a:prstGeom>
          <a:solidFill>
            <a:srgbClr val="1E293B"/>
          </a:solidFill>
          <a:ln w="254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965960"/>
            <a:ext cx="2423160" cy="411480"/>
          </a:xfrm>
          <a:prstGeom prst="rect">
            <a:avLst/>
          </a:prstGeom>
          <a:noFill/>
        </p:spPr>
        <p:txBody>
          <a:bodyPr wrap="square">
            <a:spAutoFit/>
          </a:bodyPr>
          <a:lstStyle/>
          <a:p>
            <a:pPr algn="l"/>
            <a:r>
              <a:rPr sz="1600" b="1">
                <a:solidFill>
                  <a:srgbClr val="3B82F6"/>
                </a:solidFill>
                <a:latin typeface="Calibri"/>
              </a:rPr>
              <a:t>Storage</a:t>
            </a:r>
          </a:p>
        </p:txBody>
      </p:sp>
      <p:sp>
        <p:nvSpPr>
          <p:cNvPr id="8" name="TextBox 7"/>
          <p:cNvSpPr txBox="1"/>
          <p:nvPr/>
        </p:nvSpPr>
        <p:spPr>
          <a:xfrm>
            <a:off x="548640" y="2423160"/>
            <a:ext cx="2423160" cy="548640"/>
          </a:xfrm>
          <a:prstGeom prst="rect">
            <a:avLst/>
          </a:prstGeom>
          <a:noFill/>
        </p:spPr>
        <p:txBody>
          <a:bodyPr wrap="square">
            <a:spAutoFit/>
          </a:bodyPr>
          <a:lstStyle/>
          <a:p>
            <a:pPr algn="l"/>
            <a:r>
              <a:rPr sz="1100" b="0">
                <a:solidFill>
                  <a:srgbClr val="E2E8F0"/>
                </a:solidFill>
                <a:latin typeface="Calibri"/>
              </a:rPr>
              <a:t>S3 · EBS · Glacier</a:t>
            </a:r>
          </a:p>
        </p:txBody>
      </p:sp>
      <p:sp>
        <p:nvSpPr>
          <p:cNvPr id="9" name="TextBox 8"/>
          <p:cNvSpPr txBox="1"/>
          <p:nvPr/>
        </p:nvSpPr>
        <p:spPr>
          <a:xfrm>
            <a:off x="548640" y="2834640"/>
            <a:ext cx="2423160" cy="274320"/>
          </a:xfrm>
          <a:prstGeom prst="rect">
            <a:avLst/>
          </a:prstGeom>
          <a:noFill/>
        </p:spPr>
        <p:txBody>
          <a:bodyPr wrap="square">
            <a:spAutoFit/>
          </a:bodyPr>
          <a:lstStyle/>
          <a:p>
            <a:pPr algn="l"/>
            <a:r>
              <a:rPr sz="1000" b="1">
                <a:solidFill>
                  <a:srgbClr val="10B981"/>
                </a:solidFill>
                <a:latin typeface="Calibri"/>
              </a:rPr>
              <a:t>✓ folosit in WeatherLens</a:t>
            </a:r>
          </a:p>
        </p:txBody>
      </p:sp>
      <p:sp>
        <p:nvSpPr>
          <p:cNvPr id="10" name="Rounded Rectangle 9"/>
          <p:cNvSpPr/>
          <p:nvPr/>
        </p:nvSpPr>
        <p:spPr>
          <a:xfrm>
            <a:off x="3319272" y="1783080"/>
            <a:ext cx="2788920" cy="1417320"/>
          </a:xfrm>
          <a:prstGeom prst="roundRect">
            <a:avLst>
              <a:gd name="adj" fmla="val 6000"/>
            </a:avLst>
          </a:prstGeom>
          <a:solidFill>
            <a:srgbClr val="1E293B"/>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02152" y="1965960"/>
            <a:ext cx="2423160" cy="411480"/>
          </a:xfrm>
          <a:prstGeom prst="rect">
            <a:avLst/>
          </a:prstGeom>
          <a:noFill/>
        </p:spPr>
        <p:txBody>
          <a:bodyPr wrap="square">
            <a:spAutoFit/>
          </a:bodyPr>
          <a:lstStyle/>
          <a:p>
            <a:pPr algn="l"/>
            <a:r>
              <a:rPr sz="1600" b="1">
                <a:solidFill>
                  <a:srgbClr val="F59E0B"/>
                </a:solidFill>
                <a:latin typeface="Calibri"/>
              </a:rPr>
              <a:t>Compute</a:t>
            </a:r>
          </a:p>
        </p:txBody>
      </p:sp>
      <p:sp>
        <p:nvSpPr>
          <p:cNvPr id="12" name="TextBox 11"/>
          <p:cNvSpPr txBox="1"/>
          <p:nvPr/>
        </p:nvSpPr>
        <p:spPr>
          <a:xfrm>
            <a:off x="3502152" y="2423160"/>
            <a:ext cx="2423160" cy="548640"/>
          </a:xfrm>
          <a:prstGeom prst="rect">
            <a:avLst/>
          </a:prstGeom>
          <a:noFill/>
        </p:spPr>
        <p:txBody>
          <a:bodyPr wrap="square">
            <a:spAutoFit/>
          </a:bodyPr>
          <a:lstStyle/>
          <a:p>
            <a:pPr algn="l"/>
            <a:r>
              <a:rPr sz="1100" b="0">
                <a:solidFill>
                  <a:srgbClr val="E2E8F0"/>
                </a:solidFill>
                <a:latin typeface="Calibri"/>
              </a:rPr>
              <a:t>EC2 · Lambda · Fargate</a:t>
            </a:r>
          </a:p>
        </p:txBody>
      </p:sp>
      <p:sp>
        <p:nvSpPr>
          <p:cNvPr id="13" name="TextBox 12"/>
          <p:cNvSpPr txBox="1"/>
          <p:nvPr/>
        </p:nvSpPr>
        <p:spPr>
          <a:xfrm>
            <a:off x="3502152" y="2834640"/>
            <a:ext cx="2423160" cy="274320"/>
          </a:xfrm>
          <a:prstGeom prst="rect">
            <a:avLst/>
          </a:prstGeom>
          <a:noFill/>
        </p:spPr>
        <p:txBody>
          <a:bodyPr wrap="square">
            <a:spAutoFit/>
          </a:bodyPr>
          <a:lstStyle/>
          <a:p>
            <a:pPr algn="l"/>
            <a:r>
              <a:rPr sz="1000" b="1">
                <a:solidFill>
                  <a:srgbClr val="10B981"/>
                </a:solidFill>
                <a:latin typeface="Calibri"/>
              </a:rPr>
              <a:t>✓ folosit in WeatherLens</a:t>
            </a:r>
          </a:p>
        </p:txBody>
      </p:sp>
      <p:sp>
        <p:nvSpPr>
          <p:cNvPr id="14" name="Rounded Rectangle 13"/>
          <p:cNvSpPr/>
          <p:nvPr/>
        </p:nvSpPr>
        <p:spPr>
          <a:xfrm>
            <a:off x="6272784" y="1783080"/>
            <a:ext cx="2788920" cy="1417320"/>
          </a:xfrm>
          <a:prstGeom prst="roundRect">
            <a:avLst>
              <a:gd name="adj" fmla="val 6000"/>
            </a:avLst>
          </a:prstGeom>
          <a:solidFill>
            <a:srgbClr val="0B1220"/>
          </a:solidFill>
          <a:ln w="1016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5664" y="1965960"/>
            <a:ext cx="2423160" cy="411480"/>
          </a:xfrm>
          <a:prstGeom prst="rect">
            <a:avLst/>
          </a:prstGeom>
          <a:noFill/>
        </p:spPr>
        <p:txBody>
          <a:bodyPr wrap="square">
            <a:spAutoFit/>
          </a:bodyPr>
          <a:lstStyle/>
          <a:p>
            <a:pPr algn="l"/>
            <a:r>
              <a:rPr sz="1600" b="1">
                <a:solidFill>
                  <a:srgbClr val="A78BFA"/>
                </a:solidFill>
                <a:latin typeface="Calibri"/>
              </a:rPr>
              <a:t>Database</a:t>
            </a:r>
          </a:p>
        </p:txBody>
      </p:sp>
      <p:sp>
        <p:nvSpPr>
          <p:cNvPr id="16" name="TextBox 15"/>
          <p:cNvSpPr txBox="1"/>
          <p:nvPr/>
        </p:nvSpPr>
        <p:spPr>
          <a:xfrm>
            <a:off x="6455664" y="2423160"/>
            <a:ext cx="2423160" cy="548640"/>
          </a:xfrm>
          <a:prstGeom prst="rect">
            <a:avLst/>
          </a:prstGeom>
          <a:noFill/>
        </p:spPr>
        <p:txBody>
          <a:bodyPr wrap="square">
            <a:spAutoFit/>
          </a:bodyPr>
          <a:lstStyle/>
          <a:p>
            <a:pPr algn="l"/>
            <a:r>
              <a:rPr sz="1100" b="0">
                <a:solidFill>
                  <a:srgbClr val="E2E8F0"/>
                </a:solidFill>
                <a:latin typeface="Calibri"/>
              </a:rPr>
              <a:t>RDS · DynamoDB · Aurora</a:t>
            </a:r>
          </a:p>
        </p:txBody>
      </p:sp>
      <p:sp>
        <p:nvSpPr>
          <p:cNvPr id="17" name="Rounded Rectangle 16"/>
          <p:cNvSpPr/>
          <p:nvPr/>
        </p:nvSpPr>
        <p:spPr>
          <a:xfrm>
            <a:off x="9226296" y="1783080"/>
            <a:ext cx="2788920" cy="1417320"/>
          </a:xfrm>
          <a:prstGeom prst="roundRect">
            <a:avLst>
              <a:gd name="adj" fmla="val 6000"/>
            </a:avLst>
          </a:prstGeom>
          <a:solidFill>
            <a:srgbClr val="0B1220"/>
          </a:solidFill>
          <a:ln w="1016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09176" y="1965960"/>
            <a:ext cx="2423160" cy="411480"/>
          </a:xfrm>
          <a:prstGeom prst="rect">
            <a:avLst/>
          </a:prstGeom>
          <a:noFill/>
        </p:spPr>
        <p:txBody>
          <a:bodyPr wrap="square">
            <a:spAutoFit/>
          </a:bodyPr>
          <a:lstStyle/>
          <a:p>
            <a:pPr algn="l"/>
            <a:r>
              <a:rPr sz="1600" b="1">
                <a:solidFill>
                  <a:srgbClr val="06B6D4"/>
                </a:solidFill>
                <a:latin typeface="Calibri"/>
              </a:rPr>
              <a:t>Networking</a:t>
            </a:r>
          </a:p>
        </p:txBody>
      </p:sp>
      <p:sp>
        <p:nvSpPr>
          <p:cNvPr id="19" name="TextBox 18"/>
          <p:cNvSpPr txBox="1"/>
          <p:nvPr/>
        </p:nvSpPr>
        <p:spPr>
          <a:xfrm>
            <a:off x="9409176" y="2423160"/>
            <a:ext cx="2423160" cy="548640"/>
          </a:xfrm>
          <a:prstGeom prst="rect">
            <a:avLst/>
          </a:prstGeom>
          <a:noFill/>
        </p:spPr>
        <p:txBody>
          <a:bodyPr wrap="square">
            <a:spAutoFit/>
          </a:bodyPr>
          <a:lstStyle/>
          <a:p>
            <a:pPr algn="l"/>
            <a:r>
              <a:rPr sz="1100" b="0">
                <a:solidFill>
                  <a:srgbClr val="E2E8F0"/>
                </a:solidFill>
                <a:latin typeface="Calibri"/>
              </a:rPr>
              <a:t>VPC · Route 53 · CloudFront</a:t>
            </a:r>
          </a:p>
        </p:txBody>
      </p:sp>
      <p:sp>
        <p:nvSpPr>
          <p:cNvPr id="20" name="Rounded Rectangle 19"/>
          <p:cNvSpPr/>
          <p:nvPr/>
        </p:nvSpPr>
        <p:spPr>
          <a:xfrm>
            <a:off x="365760" y="3364992"/>
            <a:ext cx="2788920" cy="1417320"/>
          </a:xfrm>
          <a:prstGeom prst="roundRect">
            <a:avLst>
              <a:gd name="adj" fmla="val 6000"/>
            </a:avLst>
          </a:prstGeom>
          <a:solidFill>
            <a:srgbClr val="1E293B"/>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547872"/>
            <a:ext cx="2423160" cy="411480"/>
          </a:xfrm>
          <a:prstGeom prst="rect">
            <a:avLst/>
          </a:prstGeom>
          <a:noFill/>
        </p:spPr>
        <p:txBody>
          <a:bodyPr wrap="square">
            <a:spAutoFit/>
          </a:bodyPr>
          <a:lstStyle/>
          <a:p>
            <a:pPr algn="l"/>
            <a:r>
              <a:rPr sz="1600" b="1">
                <a:solidFill>
                  <a:srgbClr val="EF4444"/>
                </a:solidFill>
                <a:latin typeface="Calibri"/>
              </a:rPr>
              <a:t>Analytics</a:t>
            </a:r>
          </a:p>
        </p:txBody>
      </p:sp>
      <p:sp>
        <p:nvSpPr>
          <p:cNvPr id="22" name="TextBox 21"/>
          <p:cNvSpPr txBox="1"/>
          <p:nvPr/>
        </p:nvSpPr>
        <p:spPr>
          <a:xfrm>
            <a:off x="548640" y="4005072"/>
            <a:ext cx="2423160" cy="548640"/>
          </a:xfrm>
          <a:prstGeom prst="rect">
            <a:avLst/>
          </a:prstGeom>
          <a:noFill/>
        </p:spPr>
        <p:txBody>
          <a:bodyPr wrap="square">
            <a:spAutoFit/>
          </a:bodyPr>
          <a:lstStyle/>
          <a:p>
            <a:pPr algn="l"/>
            <a:r>
              <a:rPr sz="1100" b="0">
                <a:solidFill>
                  <a:srgbClr val="E2E8F0"/>
                </a:solidFill>
                <a:latin typeface="Calibri"/>
              </a:rPr>
              <a:t>Athena · Glue · EMR · Kinesis</a:t>
            </a:r>
          </a:p>
        </p:txBody>
      </p:sp>
      <p:sp>
        <p:nvSpPr>
          <p:cNvPr id="23" name="TextBox 22"/>
          <p:cNvSpPr txBox="1"/>
          <p:nvPr/>
        </p:nvSpPr>
        <p:spPr>
          <a:xfrm>
            <a:off x="548640" y="4416552"/>
            <a:ext cx="2423160" cy="274320"/>
          </a:xfrm>
          <a:prstGeom prst="rect">
            <a:avLst/>
          </a:prstGeom>
          <a:noFill/>
        </p:spPr>
        <p:txBody>
          <a:bodyPr wrap="square">
            <a:spAutoFit/>
          </a:bodyPr>
          <a:lstStyle/>
          <a:p>
            <a:pPr algn="l"/>
            <a:r>
              <a:rPr sz="1000" b="1">
                <a:solidFill>
                  <a:srgbClr val="10B981"/>
                </a:solidFill>
                <a:latin typeface="Calibri"/>
              </a:rPr>
              <a:t>✓ folosit in WeatherLens</a:t>
            </a:r>
          </a:p>
        </p:txBody>
      </p:sp>
      <p:sp>
        <p:nvSpPr>
          <p:cNvPr id="24" name="Rounded Rectangle 23"/>
          <p:cNvSpPr/>
          <p:nvPr/>
        </p:nvSpPr>
        <p:spPr>
          <a:xfrm>
            <a:off x="3319272" y="3364992"/>
            <a:ext cx="2788920" cy="1417320"/>
          </a:xfrm>
          <a:prstGeom prst="roundRect">
            <a:avLst>
              <a:gd name="adj" fmla="val 6000"/>
            </a:avLst>
          </a:prstGeom>
          <a:solidFill>
            <a:srgbClr val="0B1220"/>
          </a:solidFill>
          <a:ln w="1016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02152" y="3547872"/>
            <a:ext cx="2423160" cy="411480"/>
          </a:xfrm>
          <a:prstGeom prst="rect">
            <a:avLst/>
          </a:prstGeom>
          <a:noFill/>
        </p:spPr>
        <p:txBody>
          <a:bodyPr wrap="square">
            <a:spAutoFit/>
          </a:bodyPr>
          <a:lstStyle/>
          <a:p>
            <a:pPr algn="l"/>
            <a:r>
              <a:rPr sz="1600" b="1">
                <a:solidFill>
                  <a:srgbClr val="A78BFA"/>
                </a:solidFill>
                <a:latin typeface="Calibri"/>
              </a:rPr>
              <a:t>Machine Learning</a:t>
            </a:r>
          </a:p>
        </p:txBody>
      </p:sp>
      <p:sp>
        <p:nvSpPr>
          <p:cNvPr id="26" name="TextBox 25"/>
          <p:cNvSpPr txBox="1"/>
          <p:nvPr/>
        </p:nvSpPr>
        <p:spPr>
          <a:xfrm>
            <a:off x="3502152" y="4005072"/>
            <a:ext cx="2423160" cy="548640"/>
          </a:xfrm>
          <a:prstGeom prst="rect">
            <a:avLst/>
          </a:prstGeom>
          <a:noFill/>
        </p:spPr>
        <p:txBody>
          <a:bodyPr wrap="square">
            <a:spAutoFit/>
          </a:bodyPr>
          <a:lstStyle/>
          <a:p>
            <a:pPr algn="l"/>
            <a:r>
              <a:rPr sz="1100" b="0">
                <a:solidFill>
                  <a:srgbClr val="E2E8F0"/>
                </a:solidFill>
                <a:latin typeface="Calibri"/>
              </a:rPr>
              <a:t>SageMaker · Rekognition · Bedrock</a:t>
            </a:r>
          </a:p>
        </p:txBody>
      </p:sp>
      <p:sp>
        <p:nvSpPr>
          <p:cNvPr id="27" name="Rounded Rectangle 26"/>
          <p:cNvSpPr/>
          <p:nvPr/>
        </p:nvSpPr>
        <p:spPr>
          <a:xfrm>
            <a:off x="6272784" y="3364992"/>
            <a:ext cx="2788920" cy="1417320"/>
          </a:xfrm>
          <a:prstGeom prst="roundRect">
            <a:avLst>
              <a:gd name="adj" fmla="val 6000"/>
            </a:avLst>
          </a:prstGeom>
          <a:solidFill>
            <a:srgbClr val="1E293B"/>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55664" y="3547872"/>
            <a:ext cx="2423160" cy="411480"/>
          </a:xfrm>
          <a:prstGeom prst="rect">
            <a:avLst/>
          </a:prstGeom>
          <a:noFill/>
        </p:spPr>
        <p:txBody>
          <a:bodyPr wrap="square">
            <a:spAutoFit/>
          </a:bodyPr>
          <a:lstStyle/>
          <a:p>
            <a:pPr algn="l"/>
            <a:r>
              <a:rPr sz="1600" b="1">
                <a:solidFill>
                  <a:srgbClr val="10B981"/>
                </a:solidFill>
                <a:latin typeface="Calibri"/>
              </a:rPr>
              <a:t>Security &amp; Ops</a:t>
            </a:r>
          </a:p>
        </p:txBody>
      </p:sp>
      <p:sp>
        <p:nvSpPr>
          <p:cNvPr id="29" name="TextBox 28"/>
          <p:cNvSpPr txBox="1"/>
          <p:nvPr/>
        </p:nvSpPr>
        <p:spPr>
          <a:xfrm>
            <a:off x="6455664" y="4005072"/>
            <a:ext cx="2423160" cy="548640"/>
          </a:xfrm>
          <a:prstGeom prst="rect">
            <a:avLst/>
          </a:prstGeom>
          <a:noFill/>
        </p:spPr>
        <p:txBody>
          <a:bodyPr wrap="square">
            <a:spAutoFit/>
          </a:bodyPr>
          <a:lstStyle/>
          <a:p>
            <a:pPr algn="l"/>
            <a:r>
              <a:rPr sz="1100" b="0">
                <a:solidFill>
                  <a:srgbClr val="E2E8F0"/>
                </a:solidFill>
                <a:latin typeface="Calibri"/>
              </a:rPr>
              <a:t>IAM · CloudWatch · KMS · WAF</a:t>
            </a:r>
          </a:p>
        </p:txBody>
      </p:sp>
      <p:sp>
        <p:nvSpPr>
          <p:cNvPr id="30" name="TextBox 29"/>
          <p:cNvSpPr txBox="1"/>
          <p:nvPr/>
        </p:nvSpPr>
        <p:spPr>
          <a:xfrm>
            <a:off x="6455664" y="4416552"/>
            <a:ext cx="2423160" cy="274320"/>
          </a:xfrm>
          <a:prstGeom prst="rect">
            <a:avLst/>
          </a:prstGeom>
          <a:noFill/>
        </p:spPr>
        <p:txBody>
          <a:bodyPr wrap="square">
            <a:spAutoFit/>
          </a:bodyPr>
          <a:lstStyle/>
          <a:p>
            <a:pPr algn="l"/>
            <a:r>
              <a:rPr sz="1000" b="1">
                <a:solidFill>
                  <a:srgbClr val="10B981"/>
                </a:solidFill>
                <a:latin typeface="Calibri"/>
              </a:rPr>
              <a:t>✓ folosit in WeatherLens</a:t>
            </a:r>
          </a:p>
        </p:txBody>
      </p:sp>
      <p:sp>
        <p:nvSpPr>
          <p:cNvPr id="31" name="Rounded Rectangle 30"/>
          <p:cNvSpPr/>
          <p:nvPr/>
        </p:nvSpPr>
        <p:spPr>
          <a:xfrm>
            <a:off x="9226296" y="3364992"/>
            <a:ext cx="2788920" cy="1417320"/>
          </a:xfrm>
          <a:prstGeom prst="roundRect">
            <a:avLst>
              <a:gd name="adj" fmla="val 6000"/>
            </a:avLst>
          </a:prstGeom>
          <a:solidFill>
            <a:srgbClr val="1E293B"/>
          </a:solidFill>
          <a:ln w="254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09176" y="3547872"/>
            <a:ext cx="2423160" cy="411480"/>
          </a:xfrm>
          <a:prstGeom prst="rect">
            <a:avLst/>
          </a:prstGeom>
          <a:noFill/>
        </p:spPr>
        <p:txBody>
          <a:bodyPr wrap="square">
            <a:spAutoFit/>
          </a:bodyPr>
          <a:lstStyle/>
          <a:p>
            <a:pPr algn="l"/>
            <a:r>
              <a:rPr sz="1600" b="1">
                <a:solidFill>
                  <a:srgbClr val="3B82F6"/>
                </a:solidFill>
                <a:latin typeface="Calibri"/>
              </a:rPr>
              <a:t>Integration</a:t>
            </a:r>
          </a:p>
        </p:txBody>
      </p:sp>
      <p:sp>
        <p:nvSpPr>
          <p:cNvPr id="33" name="TextBox 32"/>
          <p:cNvSpPr txBox="1"/>
          <p:nvPr/>
        </p:nvSpPr>
        <p:spPr>
          <a:xfrm>
            <a:off x="9409176" y="4005072"/>
            <a:ext cx="2423160" cy="548640"/>
          </a:xfrm>
          <a:prstGeom prst="rect">
            <a:avLst/>
          </a:prstGeom>
          <a:noFill/>
        </p:spPr>
        <p:txBody>
          <a:bodyPr wrap="square">
            <a:spAutoFit/>
          </a:bodyPr>
          <a:lstStyle/>
          <a:p>
            <a:pPr algn="l"/>
            <a:r>
              <a:rPr sz="1100" b="0">
                <a:solidFill>
                  <a:srgbClr val="E2E8F0"/>
                </a:solidFill>
                <a:latin typeface="Calibri"/>
              </a:rPr>
              <a:t>EventBridge · SNS · SQS · Step Functions</a:t>
            </a:r>
          </a:p>
        </p:txBody>
      </p:sp>
      <p:sp>
        <p:nvSpPr>
          <p:cNvPr id="34" name="TextBox 33"/>
          <p:cNvSpPr txBox="1"/>
          <p:nvPr/>
        </p:nvSpPr>
        <p:spPr>
          <a:xfrm>
            <a:off x="9409176" y="4416552"/>
            <a:ext cx="2423160" cy="274320"/>
          </a:xfrm>
          <a:prstGeom prst="rect">
            <a:avLst/>
          </a:prstGeom>
          <a:noFill/>
        </p:spPr>
        <p:txBody>
          <a:bodyPr wrap="square">
            <a:spAutoFit/>
          </a:bodyPr>
          <a:lstStyle/>
          <a:p>
            <a:pPr algn="l"/>
            <a:r>
              <a:rPr sz="1000" b="1">
                <a:solidFill>
                  <a:srgbClr val="10B981"/>
                </a:solidFill>
                <a:latin typeface="Calibri"/>
              </a:rPr>
              <a:t>✓ folosit in WeatherLens</a:t>
            </a:r>
          </a:p>
        </p:txBody>
      </p:sp>
      <p:sp>
        <p:nvSpPr>
          <p:cNvPr id="35" name="TextBox 34"/>
          <p:cNvSpPr txBox="1"/>
          <p:nvPr/>
        </p:nvSpPr>
        <p:spPr>
          <a:xfrm>
            <a:off x="457200" y="6446520"/>
            <a:ext cx="11247120" cy="365760"/>
          </a:xfrm>
          <a:prstGeom prst="rect">
            <a:avLst/>
          </a:prstGeom>
          <a:noFill/>
        </p:spPr>
        <p:txBody>
          <a:bodyPr wrap="square">
            <a:spAutoFit/>
          </a:bodyPr>
          <a:lstStyle/>
          <a:p>
            <a:pPr algn="ctr"/>
            <a:r>
              <a:rPr sz="1100" b="0">
                <a:solidFill>
                  <a:srgbClr val="94A3B8"/>
                </a:solidFill>
                <a:latin typeface="Calibri"/>
              </a:rPr>
              <a:t>Categoriile cu chenar puternic = folosite in proiect · 6 din 8 categorii acoperite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WeatherLens — aplicatia</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Pipeline meteorologic complet construit pe AWS</a:t>
            </a:r>
          </a:p>
        </p:txBody>
      </p:sp>
      <p:sp>
        <p:nvSpPr>
          <p:cNvPr id="6" name="Rounded Rectangle 5"/>
          <p:cNvSpPr/>
          <p:nvPr/>
        </p:nvSpPr>
        <p:spPr>
          <a:xfrm>
            <a:off x="457200" y="1600200"/>
            <a:ext cx="11247120" cy="1280160"/>
          </a:xfrm>
          <a:prstGeom prst="roundRect">
            <a:avLst>
              <a:gd name="adj" fmla="val 6000"/>
            </a:avLst>
          </a:prstGeom>
          <a:solidFill>
            <a:srgbClr val="1E293B"/>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83080"/>
            <a:ext cx="10698480" cy="411480"/>
          </a:xfrm>
          <a:prstGeom prst="rect">
            <a:avLst/>
          </a:prstGeom>
          <a:noFill/>
        </p:spPr>
        <p:txBody>
          <a:bodyPr wrap="square">
            <a:spAutoFit/>
          </a:bodyPr>
          <a:lstStyle/>
          <a:p>
            <a:pPr algn="l"/>
            <a:r>
              <a:rPr sz="1400" b="1">
                <a:solidFill>
                  <a:srgbClr val="3B82F6"/>
                </a:solidFill>
                <a:latin typeface="Calibri"/>
              </a:rPr>
              <a:t>Ce face aplicatia</a:t>
            </a:r>
          </a:p>
        </p:txBody>
      </p:sp>
      <p:sp>
        <p:nvSpPr>
          <p:cNvPr id="8" name="TextBox 7"/>
          <p:cNvSpPr txBox="1"/>
          <p:nvPr/>
        </p:nvSpPr>
        <p:spPr>
          <a:xfrm>
            <a:off x="731520" y="2121408"/>
            <a:ext cx="10698480" cy="777240"/>
          </a:xfrm>
          <a:prstGeom prst="rect">
            <a:avLst/>
          </a:prstGeom>
          <a:noFill/>
        </p:spPr>
        <p:txBody>
          <a:bodyPr wrap="square">
            <a:spAutoFit/>
          </a:bodyPr>
          <a:lstStyle/>
          <a:p>
            <a:pPr algn="l"/>
            <a:r>
              <a:rPr sz="1400" b="0">
                <a:solidFill>
                  <a:srgbClr val="E2E8F0"/>
                </a:solidFill>
                <a:latin typeface="Calibri"/>
              </a:rPr>
              <a:t>WeatherLens preia automat date meteo orare de la Open-Meteo API pentru 5 orase romanesti, le proceseaza printr-un pipeline ETL serverless si le expune intr-un dashboard BI cu grafice interactive si export Excel/CSV.</a:t>
            </a:r>
          </a:p>
        </p:txBody>
      </p:sp>
      <p:sp>
        <p:nvSpPr>
          <p:cNvPr id="9" name="Rounded Rectangle 8"/>
          <p:cNvSpPr/>
          <p:nvPr/>
        </p:nvSpPr>
        <p:spPr>
          <a:xfrm>
            <a:off x="457200" y="3108960"/>
            <a:ext cx="11247120" cy="9601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227832"/>
            <a:ext cx="10698480" cy="365760"/>
          </a:xfrm>
          <a:prstGeom prst="rect">
            <a:avLst/>
          </a:prstGeom>
          <a:noFill/>
        </p:spPr>
        <p:txBody>
          <a:bodyPr wrap="square">
            <a:spAutoFit/>
          </a:bodyPr>
          <a:lstStyle/>
          <a:p>
            <a:pPr algn="l"/>
            <a:r>
              <a:rPr sz="1500" b="1">
                <a:solidFill>
                  <a:srgbClr val="10B981"/>
                </a:solidFill>
                <a:latin typeface="Calibri"/>
              </a:rPr>
              <a:t>📡 Ingestie automata</a:t>
            </a:r>
          </a:p>
        </p:txBody>
      </p:sp>
      <p:sp>
        <p:nvSpPr>
          <p:cNvPr id="11" name="TextBox 10"/>
          <p:cNvSpPr txBox="1"/>
          <p:nvPr/>
        </p:nvSpPr>
        <p:spPr>
          <a:xfrm>
            <a:off x="731520" y="3547872"/>
            <a:ext cx="10698480" cy="502920"/>
          </a:xfrm>
          <a:prstGeom prst="rect">
            <a:avLst/>
          </a:prstGeom>
          <a:noFill/>
        </p:spPr>
        <p:txBody>
          <a:bodyPr wrap="square">
            <a:spAutoFit/>
          </a:bodyPr>
          <a:lstStyle/>
          <a:p>
            <a:pPr algn="l"/>
            <a:r>
              <a:rPr lang="en-US" sz="1200" b="0" dirty="0">
                <a:solidFill>
                  <a:srgbClr val="E2E8F0"/>
                </a:solidFill>
                <a:latin typeface="Calibri"/>
              </a:rPr>
              <a:t>Cron </a:t>
            </a:r>
            <a:r>
              <a:rPr lang="en-US" sz="1200" b="0" dirty="0" err="1">
                <a:solidFill>
                  <a:srgbClr val="E2E8F0"/>
                </a:solidFill>
                <a:latin typeface="Calibri"/>
              </a:rPr>
              <a:t>zilnic</a:t>
            </a:r>
            <a:r>
              <a:rPr lang="en-US" sz="1200" b="0" dirty="0">
                <a:solidFill>
                  <a:srgbClr val="E2E8F0"/>
                </a:solidFill>
                <a:latin typeface="Calibri"/>
              </a:rPr>
              <a:t> </a:t>
            </a:r>
            <a:r>
              <a:rPr sz="1200" b="0" dirty="0" err="1">
                <a:solidFill>
                  <a:srgbClr val="E2E8F0"/>
                </a:solidFill>
                <a:latin typeface="Calibri"/>
              </a:rPr>
              <a:t>preia</a:t>
            </a:r>
            <a:r>
              <a:rPr sz="1200" b="0" dirty="0">
                <a:solidFill>
                  <a:srgbClr val="E2E8F0"/>
                </a:solidFill>
                <a:latin typeface="Calibri"/>
              </a:rPr>
              <a:t> 24 de </a:t>
            </a:r>
            <a:r>
              <a:rPr sz="1200" b="0" dirty="0" err="1">
                <a:solidFill>
                  <a:srgbClr val="E2E8F0"/>
                </a:solidFill>
                <a:latin typeface="Calibri"/>
              </a:rPr>
              <a:t>inregistrari</a:t>
            </a:r>
            <a:r>
              <a:rPr sz="1200" b="0" dirty="0">
                <a:solidFill>
                  <a:srgbClr val="E2E8F0"/>
                </a:solidFill>
                <a:latin typeface="Calibri"/>
              </a:rPr>
              <a:t> × 5 </a:t>
            </a:r>
            <a:r>
              <a:rPr sz="1200" b="0" dirty="0" err="1">
                <a:solidFill>
                  <a:srgbClr val="E2E8F0"/>
                </a:solidFill>
                <a:latin typeface="Calibri"/>
              </a:rPr>
              <a:t>orase</a:t>
            </a:r>
            <a:r>
              <a:rPr sz="1200" b="0" dirty="0">
                <a:solidFill>
                  <a:srgbClr val="E2E8F0"/>
                </a:solidFill>
                <a:latin typeface="Calibri"/>
              </a:rPr>
              <a:t> = 120 </a:t>
            </a:r>
            <a:r>
              <a:rPr sz="1200" b="0" dirty="0" err="1">
                <a:solidFill>
                  <a:srgbClr val="E2E8F0"/>
                </a:solidFill>
                <a:latin typeface="Calibri"/>
              </a:rPr>
              <a:t>randuri</a:t>
            </a:r>
            <a:r>
              <a:rPr sz="1200" b="0" dirty="0">
                <a:solidFill>
                  <a:srgbClr val="E2E8F0"/>
                </a:solidFill>
                <a:latin typeface="Calibri"/>
              </a:rPr>
              <a:t>/zi de la Open-</a:t>
            </a:r>
            <a:r>
              <a:rPr sz="1200" b="0" dirty="0" err="1">
                <a:solidFill>
                  <a:srgbClr val="E2E8F0"/>
                </a:solidFill>
                <a:latin typeface="Calibri"/>
              </a:rPr>
              <a:t>Meteo</a:t>
            </a:r>
            <a:r>
              <a:rPr sz="1200" b="0" dirty="0">
                <a:solidFill>
                  <a:srgbClr val="E2E8F0"/>
                </a:solidFill>
                <a:latin typeface="Calibri"/>
              </a:rPr>
              <a:t>. Fara </a:t>
            </a:r>
            <a:r>
              <a:rPr sz="1200" b="0" dirty="0" err="1">
                <a:solidFill>
                  <a:srgbClr val="E2E8F0"/>
                </a:solidFill>
                <a:latin typeface="Calibri"/>
              </a:rPr>
              <a:t>interventie</a:t>
            </a:r>
            <a:r>
              <a:rPr sz="1200" b="0" dirty="0">
                <a:solidFill>
                  <a:srgbClr val="E2E8F0"/>
                </a:solidFill>
                <a:latin typeface="Calibri"/>
              </a:rPr>
              <a:t> </a:t>
            </a:r>
            <a:r>
              <a:rPr sz="1200" b="0" dirty="0" err="1">
                <a:solidFill>
                  <a:srgbClr val="E2E8F0"/>
                </a:solidFill>
                <a:latin typeface="Calibri"/>
              </a:rPr>
              <a:t>manuala</a:t>
            </a:r>
            <a:r>
              <a:rPr sz="1200" b="0" dirty="0">
                <a:solidFill>
                  <a:srgbClr val="E2E8F0"/>
                </a:solidFill>
                <a:latin typeface="Calibri"/>
              </a:rPr>
              <a:t> </a:t>
            </a:r>
            <a:r>
              <a:rPr sz="1200" b="0" dirty="0" err="1">
                <a:solidFill>
                  <a:srgbClr val="E2E8F0"/>
                </a:solidFill>
                <a:latin typeface="Calibri"/>
              </a:rPr>
              <a:t>dupa</a:t>
            </a:r>
            <a:r>
              <a:rPr sz="1200" b="0" dirty="0">
                <a:solidFill>
                  <a:srgbClr val="E2E8F0"/>
                </a:solidFill>
                <a:latin typeface="Calibri"/>
              </a:rPr>
              <a:t> deploy.</a:t>
            </a:r>
          </a:p>
        </p:txBody>
      </p:sp>
      <p:sp>
        <p:nvSpPr>
          <p:cNvPr id="12" name="Rounded Rectangle 11"/>
          <p:cNvSpPr/>
          <p:nvPr/>
        </p:nvSpPr>
        <p:spPr>
          <a:xfrm>
            <a:off x="457200" y="4187952"/>
            <a:ext cx="11247120" cy="9601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4306824"/>
            <a:ext cx="10698480" cy="365760"/>
          </a:xfrm>
          <a:prstGeom prst="rect">
            <a:avLst/>
          </a:prstGeom>
          <a:noFill/>
        </p:spPr>
        <p:txBody>
          <a:bodyPr wrap="square">
            <a:spAutoFit/>
          </a:bodyPr>
          <a:lstStyle/>
          <a:p>
            <a:pPr algn="l"/>
            <a:r>
              <a:rPr sz="1500" b="1">
                <a:solidFill>
                  <a:srgbClr val="10B981"/>
                </a:solidFill>
                <a:latin typeface="Calibri"/>
              </a:rPr>
              <a:t>⚙️ ETL serverless</a:t>
            </a:r>
          </a:p>
        </p:txBody>
      </p:sp>
      <p:sp>
        <p:nvSpPr>
          <p:cNvPr id="14" name="TextBox 13"/>
          <p:cNvSpPr txBox="1"/>
          <p:nvPr/>
        </p:nvSpPr>
        <p:spPr>
          <a:xfrm>
            <a:off x="731520" y="4626864"/>
            <a:ext cx="10698480" cy="502920"/>
          </a:xfrm>
          <a:prstGeom prst="rect">
            <a:avLst/>
          </a:prstGeom>
          <a:noFill/>
        </p:spPr>
        <p:txBody>
          <a:bodyPr wrap="square">
            <a:spAutoFit/>
          </a:bodyPr>
          <a:lstStyle/>
          <a:p>
            <a:pPr algn="l"/>
            <a:r>
              <a:rPr sz="1200" b="0">
                <a:solidFill>
                  <a:srgbClr val="E2E8F0"/>
                </a:solidFill>
                <a:latin typeface="Calibri"/>
              </a:rPr>
              <a:t>JSON → Parquet partitionat cu 13 derivari analitice (sezon, anomalii, rolling avg, categorii vant, fenomene extreme). Validare ranges automat.</a:t>
            </a:r>
          </a:p>
        </p:txBody>
      </p:sp>
      <p:sp>
        <p:nvSpPr>
          <p:cNvPr id="15" name="Rounded Rectangle 14"/>
          <p:cNvSpPr/>
          <p:nvPr/>
        </p:nvSpPr>
        <p:spPr>
          <a:xfrm>
            <a:off x="457200" y="5266944"/>
            <a:ext cx="11247120" cy="9601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385816"/>
            <a:ext cx="10698480" cy="365760"/>
          </a:xfrm>
          <a:prstGeom prst="rect">
            <a:avLst/>
          </a:prstGeom>
          <a:noFill/>
        </p:spPr>
        <p:txBody>
          <a:bodyPr wrap="square">
            <a:spAutoFit/>
          </a:bodyPr>
          <a:lstStyle/>
          <a:p>
            <a:pPr algn="l"/>
            <a:r>
              <a:rPr sz="1500" b="1">
                <a:solidFill>
                  <a:srgbClr val="10B981"/>
                </a:solidFill>
                <a:latin typeface="Calibri"/>
              </a:rPr>
              <a:t>📊 Dashboard interactiv</a:t>
            </a:r>
          </a:p>
        </p:txBody>
      </p:sp>
      <p:sp>
        <p:nvSpPr>
          <p:cNvPr id="17" name="TextBox 16"/>
          <p:cNvSpPr txBox="1"/>
          <p:nvPr/>
        </p:nvSpPr>
        <p:spPr>
          <a:xfrm>
            <a:off x="731520" y="5705856"/>
            <a:ext cx="10698480" cy="502920"/>
          </a:xfrm>
          <a:prstGeom prst="rect">
            <a:avLst/>
          </a:prstGeom>
          <a:noFill/>
        </p:spPr>
        <p:txBody>
          <a:bodyPr wrap="square">
            <a:spAutoFit/>
          </a:bodyPr>
          <a:lstStyle/>
          <a:p>
            <a:pPr algn="l"/>
            <a:r>
              <a:rPr sz="1200" b="0">
                <a:solidFill>
                  <a:srgbClr val="E2E8F0"/>
                </a:solidFill>
                <a:latin typeface="Calibri"/>
              </a:rPr>
              <a:t>Filtre dinamice (oras, perioada, sezon), 7 tipuri de grafice, KPI cu delta vs perioada precedenta, export CSV/Excel/JSON.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Scopul proiectului</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WeatherLens = vehicul didactic pentru explorarea ecosistemului AWS</a:t>
            </a:r>
          </a:p>
        </p:txBody>
      </p:sp>
      <p:sp>
        <p:nvSpPr>
          <p:cNvPr id="6" name="Rounded Rectangle 5"/>
          <p:cNvSpPr/>
          <p:nvPr/>
        </p:nvSpPr>
        <p:spPr>
          <a:xfrm>
            <a:off x="457200" y="1600200"/>
            <a:ext cx="5486400" cy="420624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783080"/>
            <a:ext cx="5212080" cy="411480"/>
          </a:xfrm>
          <a:prstGeom prst="rect">
            <a:avLst/>
          </a:prstGeom>
          <a:noFill/>
        </p:spPr>
        <p:txBody>
          <a:bodyPr wrap="square">
            <a:spAutoFit/>
          </a:bodyPr>
          <a:lstStyle/>
          <a:p>
            <a:pPr algn="l"/>
            <a:r>
              <a:rPr sz="1200" b="1">
                <a:solidFill>
                  <a:srgbClr val="3B82F6"/>
                </a:solidFill>
                <a:latin typeface="Calibri"/>
              </a:rPr>
              <a:t>OBIECTIV ACADEMIC</a:t>
            </a:r>
          </a:p>
        </p:txBody>
      </p:sp>
      <p:sp>
        <p:nvSpPr>
          <p:cNvPr id="8" name="TextBox 7"/>
          <p:cNvSpPr txBox="1"/>
          <p:nvPr/>
        </p:nvSpPr>
        <p:spPr>
          <a:xfrm>
            <a:off x="640080" y="2148840"/>
            <a:ext cx="5212080" cy="2292935"/>
          </a:xfrm>
          <a:prstGeom prst="rect">
            <a:avLst/>
          </a:prstGeom>
          <a:noFill/>
        </p:spPr>
        <p:txBody>
          <a:bodyPr wrap="square">
            <a:spAutoFit/>
          </a:bodyPr>
          <a:lstStyle/>
          <a:p>
            <a:pPr algn="l"/>
            <a:r>
              <a:rPr sz="1300" b="0" dirty="0" err="1">
                <a:solidFill>
                  <a:srgbClr val="E2E8F0"/>
                </a:solidFill>
                <a:latin typeface="Calibri"/>
              </a:rPr>
              <a:t>Prezentarea</a:t>
            </a:r>
            <a:r>
              <a:rPr sz="1300" b="0" dirty="0">
                <a:solidFill>
                  <a:srgbClr val="E2E8F0"/>
                </a:solidFill>
                <a:latin typeface="Calibri"/>
              </a:rPr>
              <a:t> </a:t>
            </a:r>
            <a:r>
              <a:rPr sz="1300" b="0" dirty="0" err="1">
                <a:solidFill>
                  <a:srgbClr val="E2E8F0"/>
                </a:solidFill>
                <a:latin typeface="Calibri"/>
              </a:rPr>
              <a:t>unei</a:t>
            </a:r>
            <a:r>
              <a:rPr sz="1300" b="0" dirty="0">
                <a:solidFill>
                  <a:srgbClr val="E2E8F0"/>
                </a:solidFill>
                <a:latin typeface="Calibri"/>
              </a:rPr>
              <a:t> </a:t>
            </a:r>
            <a:r>
              <a:rPr sz="1300" b="0" dirty="0" err="1">
                <a:solidFill>
                  <a:srgbClr val="E2E8F0"/>
                </a:solidFill>
                <a:latin typeface="Calibri"/>
              </a:rPr>
              <a:t>arhitecturi</a:t>
            </a:r>
            <a:r>
              <a:rPr sz="1300" b="0" dirty="0">
                <a:solidFill>
                  <a:srgbClr val="E2E8F0"/>
                </a:solidFill>
                <a:latin typeface="Calibri"/>
              </a:rPr>
              <a:t> cloud </a:t>
            </a:r>
            <a:r>
              <a:rPr sz="1300" b="0" dirty="0" err="1">
                <a:solidFill>
                  <a:srgbClr val="E2E8F0"/>
                </a:solidFill>
                <a:latin typeface="Calibri"/>
              </a:rPr>
              <a:t>reale</a:t>
            </a:r>
            <a:r>
              <a:rPr sz="1300" b="0" dirty="0">
                <a:solidFill>
                  <a:srgbClr val="E2E8F0"/>
                </a:solidFill>
                <a:latin typeface="Calibri"/>
              </a:rPr>
              <a:t> — nu un demo </a:t>
            </a:r>
            <a:r>
              <a:rPr sz="1300" b="0" dirty="0" err="1">
                <a:solidFill>
                  <a:srgbClr val="E2E8F0"/>
                </a:solidFill>
                <a:latin typeface="Calibri"/>
              </a:rPr>
              <a:t>teoretic</a:t>
            </a:r>
            <a:r>
              <a:rPr sz="1300" b="0" dirty="0">
                <a:solidFill>
                  <a:srgbClr val="E2E8F0"/>
                </a:solidFill>
                <a:latin typeface="Calibri"/>
              </a:rPr>
              <a:t>, ci un </a:t>
            </a:r>
            <a:r>
              <a:rPr sz="1300" b="0" dirty="0" err="1">
                <a:solidFill>
                  <a:srgbClr val="E2E8F0"/>
                </a:solidFill>
                <a:latin typeface="Calibri"/>
              </a:rPr>
              <a:t>sistem</a:t>
            </a:r>
            <a:r>
              <a:rPr sz="1300" b="0" dirty="0">
                <a:solidFill>
                  <a:srgbClr val="E2E8F0"/>
                </a:solidFill>
                <a:latin typeface="Calibri"/>
              </a:rPr>
              <a:t> care:
• </a:t>
            </a:r>
            <a:r>
              <a:rPr sz="1300" b="0" dirty="0" err="1">
                <a:solidFill>
                  <a:srgbClr val="E2E8F0"/>
                </a:solidFill>
                <a:latin typeface="Calibri"/>
              </a:rPr>
              <a:t>Acopera</a:t>
            </a:r>
            <a:r>
              <a:rPr sz="1300" b="0" dirty="0">
                <a:solidFill>
                  <a:srgbClr val="E2E8F0"/>
                </a:solidFill>
                <a:latin typeface="Calibri"/>
              </a:rPr>
              <a:t> </a:t>
            </a:r>
            <a:r>
              <a:rPr sz="1300" b="0" dirty="0" err="1">
                <a:solidFill>
                  <a:srgbClr val="E2E8F0"/>
                </a:solidFill>
                <a:latin typeface="Calibri"/>
              </a:rPr>
              <a:t>toate</a:t>
            </a:r>
            <a:r>
              <a:rPr sz="1300" b="0" dirty="0">
                <a:solidFill>
                  <a:srgbClr val="E2E8F0"/>
                </a:solidFill>
                <a:latin typeface="Calibri"/>
              </a:rPr>
              <a:t> </a:t>
            </a:r>
            <a:r>
              <a:rPr sz="1300" b="0" dirty="0" err="1">
                <a:solidFill>
                  <a:srgbClr val="E2E8F0"/>
                </a:solidFill>
                <a:latin typeface="Calibri"/>
              </a:rPr>
              <a:t>cele</a:t>
            </a:r>
            <a:r>
              <a:rPr sz="1300" b="0" dirty="0">
                <a:solidFill>
                  <a:srgbClr val="E2E8F0"/>
                </a:solidFill>
                <a:latin typeface="Calibri"/>
              </a:rPr>
              <a:t> 6 </a:t>
            </a:r>
            <a:r>
              <a:rPr sz="1300" b="0" dirty="0" err="1">
                <a:solidFill>
                  <a:srgbClr val="E2E8F0"/>
                </a:solidFill>
                <a:latin typeface="Calibri"/>
              </a:rPr>
              <a:t>layere</a:t>
            </a:r>
            <a:r>
              <a:rPr sz="1300" b="0" dirty="0">
                <a:solidFill>
                  <a:srgbClr val="E2E8F0"/>
                </a:solidFill>
                <a:latin typeface="Calibri"/>
              </a:rPr>
              <a:t> ale </a:t>
            </a:r>
            <a:r>
              <a:rPr sz="1300" b="0" dirty="0" err="1">
                <a:solidFill>
                  <a:srgbClr val="E2E8F0"/>
                </a:solidFill>
                <a:latin typeface="Calibri"/>
              </a:rPr>
              <a:t>unei</a:t>
            </a:r>
            <a:r>
              <a:rPr sz="1300" b="0" dirty="0">
                <a:solidFill>
                  <a:srgbClr val="E2E8F0"/>
                </a:solidFill>
                <a:latin typeface="Calibri"/>
              </a:rPr>
              <a:t> </a:t>
            </a:r>
            <a:r>
              <a:rPr sz="1300" b="0" dirty="0" err="1">
                <a:solidFill>
                  <a:srgbClr val="E2E8F0"/>
                </a:solidFill>
                <a:latin typeface="Calibri"/>
              </a:rPr>
              <a:t>platforme</a:t>
            </a:r>
            <a:r>
              <a:rPr sz="1300" b="0" dirty="0">
                <a:solidFill>
                  <a:srgbClr val="E2E8F0"/>
                </a:solidFill>
                <a:latin typeface="Calibri"/>
              </a:rPr>
              <a:t> de date
  (Trigger · Ingestion · Orchestration · Processing · Analytics · Visualization)
• </a:t>
            </a:r>
            <a:r>
              <a:rPr sz="1300" b="0" dirty="0" err="1">
                <a:solidFill>
                  <a:srgbClr val="E2E8F0"/>
                </a:solidFill>
                <a:latin typeface="Calibri"/>
              </a:rPr>
              <a:t>Demonstreaza</a:t>
            </a:r>
            <a:r>
              <a:rPr sz="1300" b="0" dirty="0">
                <a:solidFill>
                  <a:srgbClr val="E2E8F0"/>
                </a:solidFill>
                <a:latin typeface="Calibri"/>
              </a:rPr>
              <a:t> </a:t>
            </a:r>
            <a:r>
              <a:rPr sz="1300" b="0" dirty="0" err="1">
                <a:solidFill>
                  <a:srgbClr val="E2E8F0"/>
                </a:solidFill>
                <a:latin typeface="Calibri"/>
              </a:rPr>
              <a:t>integrare</a:t>
            </a:r>
            <a:r>
              <a:rPr sz="1300" b="0" dirty="0">
                <a:solidFill>
                  <a:srgbClr val="E2E8F0"/>
                </a:solidFill>
                <a:latin typeface="Calibri"/>
              </a:rPr>
              <a:t> </a:t>
            </a:r>
            <a:r>
              <a:rPr sz="1300" b="0" dirty="0" err="1">
                <a:solidFill>
                  <a:srgbClr val="E2E8F0"/>
                </a:solidFill>
                <a:latin typeface="Calibri"/>
              </a:rPr>
              <a:t>reala</a:t>
            </a:r>
            <a:r>
              <a:rPr sz="1300" b="0" dirty="0">
                <a:solidFill>
                  <a:srgbClr val="E2E8F0"/>
                </a:solidFill>
                <a:latin typeface="Calibri"/>
              </a:rPr>
              <a:t> </a:t>
            </a:r>
            <a:r>
              <a:rPr sz="1300" b="0" dirty="0" err="1">
                <a:solidFill>
                  <a:srgbClr val="E2E8F0"/>
                </a:solidFill>
                <a:latin typeface="Calibri"/>
              </a:rPr>
              <a:t>intre</a:t>
            </a:r>
            <a:r>
              <a:rPr sz="1300" b="0" dirty="0">
                <a:solidFill>
                  <a:srgbClr val="E2E8F0"/>
                </a:solidFill>
                <a:latin typeface="Calibri"/>
              </a:rPr>
              <a:t> 9 </a:t>
            </a:r>
            <a:r>
              <a:rPr sz="1300" b="0" dirty="0" err="1">
                <a:solidFill>
                  <a:srgbClr val="E2E8F0"/>
                </a:solidFill>
                <a:latin typeface="Calibri"/>
              </a:rPr>
              <a:t>servicii</a:t>
            </a:r>
            <a:r>
              <a:rPr sz="1300" b="0" dirty="0">
                <a:solidFill>
                  <a:srgbClr val="E2E8F0"/>
                </a:solidFill>
                <a:latin typeface="Calibri"/>
              </a:rPr>
              <a:t> AWS
  — </a:t>
            </a:r>
            <a:r>
              <a:rPr sz="1300" b="0" dirty="0" err="1">
                <a:solidFill>
                  <a:srgbClr val="E2E8F0"/>
                </a:solidFill>
                <a:latin typeface="Calibri"/>
              </a:rPr>
              <a:t>fiecare</a:t>
            </a:r>
            <a:r>
              <a:rPr sz="1300" b="0" dirty="0">
                <a:solidFill>
                  <a:srgbClr val="E2E8F0"/>
                </a:solidFill>
                <a:latin typeface="Calibri"/>
              </a:rPr>
              <a:t> cu un </a:t>
            </a:r>
            <a:r>
              <a:rPr sz="1300" b="0" dirty="0" err="1">
                <a:solidFill>
                  <a:srgbClr val="E2E8F0"/>
                </a:solidFill>
                <a:latin typeface="Calibri"/>
              </a:rPr>
              <a:t>rol</a:t>
            </a:r>
            <a:r>
              <a:rPr sz="1300" b="0" dirty="0">
                <a:solidFill>
                  <a:srgbClr val="E2E8F0"/>
                </a:solidFill>
                <a:latin typeface="Calibri"/>
              </a:rPr>
              <a:t> specific in pipeline
• Include un </a:t>
            </a:r>
            <a:r>
              <a:rPr sz="1300" b="0" dirty="0" err="1">
                <a:solidFill>
                  <a:srgbClr val="E2E8F0"/>
                </a:solidFill>
                <a:latin typeface="Calibri"/>
              </a:rPr>
              <a:t>serviciu</a:t>
            </a:r>
            <a:r>
              <a:rPr sz="1300" b="0" dirty="0">
                <a:solidFill>
                  <a:srgbClr val="E2E8F0"/>
                </a:solidFill>
                <a:latin typeface="Calibri"/>
              </a:rPr>
              <a:t> nou
  — Step Functions ⭐</a:t>
            </a:r>
          </a:p>
        </p:txBody>
      </p:sp>
      <p:sp>
        <p:nvSpPr>
          <p:cNvPr id="9" name="Rounded Rectangle 8"/>
          <p:cNvSpPr/>
          <p:nvPr/>
        </p:nvSpPr>
        <p:spPr>
          <a:xfrm>
            <a:off x="6217920" y="1600200"/>
            <a:ext cx="5486400" cy="420624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783080"/>
            <a:ext cx="5212080" cy="411480"/>
          </a:xfrm>
          <a:prstGeom prst="rect">
            <a:avLst/>
          </a:prstGeom>
          <a:noFill/>
        </p:spPr>
        <p:txBody>
          <a:bodyPr wrap="square">
            <a:spAutoFit/>
          </a:bodyPr>
          <a:lstStyle/>
          <a:p>
            <a:pPr algn="l"/>
            <a:r>
              <a:rPr sz="1200" b="1">
                <a:solidFill>
                  <a:srgbClr val="10B981"/>
                </a:solidFill>
                <a:latin typeface="Calibri"/>
              </a:rPr>
              <a:t>REZULTATE LIVRATE</a:t>
            </a:r>
          </a:p>
        </p:txBody>
      </p:sp>
      <p:sp>
        <p:nvSpPr>
          <p:cNvPr id="11" name="TextBox 10"/>
          <p:cNvSpPr txBox="1"/>
          <p:nvPr/>
        </p:nvSpPr>
        <p:spPr>
          <a:xfrm>
            <a:off x="6400800" y="2148840"/>
            <a:ext cx="5212080" cy="3611880"/>
          </a:xfrm>
          <a:prstGeom prst="rect">
            <a:avLst/>
          </a:prstGeom>
          <a:noFill/>
        </p:spPr>
        <p:txBody>
          <a:bodyPr wrap="square">
            <a:spAutoFit/>
          </a:bodyPr>
          <a:lstStyle/>
          <a:p>
            <a:pPr algn="l"/>
            <a:r>
              <a:rPr sz="1300" b="0">
                <a:solidFill>
                  <a:srgbClr val="E2E8F0"/>
                </a:solidFill>
                <a:latin typeface="Calibri"/>
              </a:rPr>
              <a:t>Toate cerintele bifate, plus extra:
• 9 servicii AWS integrate (cerinta minim 8)
• Pipeline complet automatizat zilnic
  ETL ruleaza fara supraveghere la 06:00 UTC
• Dashboard 4 pagini cu drill-down si export
• Bonus: implementare locala $0 cu mapping AWS↔local
  (Streamlit + DuckDB + Python)
• 12 teste pytest verzi · documentatie completa</a:t>
            </a:r>
          </a:p>
        </p:txBody>
      </p:sp>
      <p:sp>
        <p:nvSpPr>
          <p:cNvPr id="12" name="Rounded Rectangle 11"/>
          <p:cNvSpPr/>
          <p:nvPr/>
        </p:nvSpPr>
        <p:spPr>
          <a:xfrm>
            <a:off x="457200" y="5989320"/>
            <a:ext cx="11247120" cy="54864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089904"/>
            <a:ext cx="10972800" cy="365760"/>
          </a:xfrm>
          <a:prstGeom prst="rect">
            <a:avLst/>
          </a:prstGeom>
          <a:noFill/>
        </p:spPr>
        <p:txBody>
          <a:bodyPr wrap="square">
            <a:spAutoFit/>
          </a:bodyPr>
          <a:lstStyle/>
          <a:p>
            <a:pPr algn="ctr"/>
            <a:r>
              <a:rPr sz="1200" b="1">
                <a:solidFill>
                  <a:srgbClr val="E2E8F0"/>
                </a:solidFill>
                <a:latin typeface="Calibri"/>
              </a:rPr>
              <a:t>Date reale: 5 orase · 119 zile (2026-01-01 → 2026-04-29) · 14 280 randuri orare · 595 rezumate zilnice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Cele 9 servicii AWS folosite</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Lista completa cu rolul fiecaruia in WeatherLens</a:t>
            </a:r>
          </a:p>
        </p:txBody>
      </p:sp>
      <p:sp>
        <p:nvSpPr>
          <p:cNvPr id="6" name="Rounded Rectangle 5"/>
          <p:cNvSpPr/>
          <p:nvPr/>
        </p:nvSpPr>
        <p:spPr>
          <a:xfrm>
            <a:off x="457200" y="1691640"/>
            <a:ext cx="640080" cy="50292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783080"/>
            <a:ext cx="640080" cy="365760"/>
          </a:xfrm>
          <a:prstGeom prst="rect">
            <a:avLst/>
          </a:prstGeom>
          <a:noFill/>
        </p:spPr>
        <p:txBody>
          <a:bodyPr wrap="square">
            <a:spAutoFit/>
          </a:bodyPr>
          <a:lstStyle/>
          <a:p>
            <a:pPr algn="ctr"/>
            <a:r>
              <a:rPr sz="2000" b="0">
                <a:solidFill>
                  <a:srgbClr val="3B82F6"/>
                </a:solidFill>
                <a:latin typeface="Calibri"/>
              </a:rPr>
              <a:t>📦</a:t>
            </a:r>
          </a:p>
        </p:txBody>
      </p:sp>
      <p:sp>
        <p:nvSpPr>
          <p:cNvPr id="8" name="Rounded Rectangle 7"/>
          <p:cNvSpPr/>
          <p:nvPr/>
        </p:nvSpPr>
        <p:spPr>
          <a:xfrm>
            <a:off x="1188720" y="1691640"/>
            <a:ext cx="2468880" cy="50292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810512"/>
            <a:ext cx="2377440" cy="365760"/>
          </a:xfrm>
          <a:prstGeom prst="rect">
            <a:avLst/>
          </a:prstGeom>
          <a:noFill/>
        </p:spPr>
        <p:txBody>
          <a:bodyPr wrap="square">
            <a:spAutoFit/>
          </a:bodyPr>
          <a:lstStyle/>
          <a:p>
            <a:pPr algn="l"/>
            <a:r>
              <a:rPr sz="1300" b="1">
                <a:solidFill>
                  <a:srgbClr val="3B82F6"/>
                </a:solidFill>
                <a:latin typeface="Calibri"/>
              </a:rPr>
              <a:t>Amazon S3</a:t>
            </a:r>
          </a:p>
        </p:txBody>
      </p:sp>
      <p:sp>
        <p:nvSpPr>
          <p:cNvPr id="10" name="Rounded Rectangle 9"/>
          <p:cNvSpPr/>
          <p:nvPr/>
        </p:nvSpPr>
        <p:spPr>
          <a:xfrm>
            <a:off x="3749039" y="1691640"/>
            <a:ext cx="7955279" cy="502920"/>
          </a:xfrm>
          <a:prstGeom prst="roundRect">
            <a:avLst>
              <a:gd name="adj" fmla="val 6000"/>
            </a:avLst>
          </a:prstGeom>
          <a:solidFill>
            <a:srgbClr val="0B1220"/>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1810512"/>
            <a:ext cx="7772400" cy="365760"/>
          </a:xfrm>
          <a:prstGeom prst="rect">
            <a:avLst/>
          </a:prstGeom>
          <a:noFill/>
        </p:spPr>
        <p:txBody>
          <a:bodyPr wrap="square">
            <a:spAutoFit/>
          </a:bodyPr>
          <a:lstStyle/>
          <a:p>
            <a:pPr algn="l"/>
            <a:r>
              <a:rPr sz="1100" b="0">
                <a:solidFill>
                  <a:srgbClr val="E2E8F0"/>
                </a:solidFill>
                <a:latin typeface="Calibri"/>
              </a:rPr>
              <a:t>Stocheaza datele brute (JSON), procesate (Parquet), exporturile si site-ul static al frontend-ului.</a:t>
            </a:r>
          </a:p>
        </p:txBody>
      </p:sp>
      <p:sp>
        <p:nvSpPr>
          <p:cNvPr id="12" name="Rounded Rectangle 11"/>
          <p:cNvSpPr/>
          <p:nvPr/>
        </p:nvSpPr>
        <p:spPr>
          <a:xfrm>
            <a:off x="457200" y="2231136"/>
            <a:ext cx="640080" cy="50292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322576"/>
            <a:ext cx="640080" cy="365760"/>
          </a:xfrm>
          <a:prstGeom prst="rect">
            <a:avLst/>
          </a:prstGeom>
          <a:noFill/>
        </p:spPr>
        <p:txBody>
          <a:bodyPr wrap="square">
            <a:spAutoFit/>
          </a:bodyPr>
          <a:lstStyle/>
          <a:p>
            <a:pPr algn="ctr"/>
            <a:r>
              <a:rPr sz="2000" b="0">
                <a:solidFill>
                  <a:srgbClr val="F59E0B"/>
                </a:solidFill>
                <a:latin typeface="Calibri"/>
              </a:rPr>
              <a:t>🔧</a:t>
            </a:r>
          </a:p>
        </p:txBody>
      </p:sp>
      <p:sp>
        <p:nvSpPr>
          <p:cNvPr id="14" name="Rounded Rectangle 13"/>
          <p:cNvSpPr/>
          <p:nvPr/>
        </p:nvSpPr>
        <p:spPr>
          <a:xfrm>
            <a:off x="1188720" y="2231136"/>
            <a:ext cx="2468880" cy="50292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2350008"/>
            <a:ext cx="2377440" cy="365760"/>
          </a:xfrm>
          <a:prstGeom prst="rect">
            <a:avLst/>
          </a:prstGeom>
          <a:noFill/>
        </p:spPr>
        <p:txBody>
          <a:bodyPr wrap="square">
            <a:spAutoFit/>
          </a:bodyPr>
          <a:lstStyle/>
          <a:p>
            <a:pPr algn="l"/>
            <a:r>
              <a:rPr sz="1300" b="1">
                <a:solidFill>
                  <a:srgbClr val="F59E0B"/>
                </a:solidFill>
                <a:latin typeface="Calibri"/>
              </a:rPr>
              <a:t>AWS Lambda</a:t>
            </a:r>
          </a:p>
        </p:txBody>
      </p:sp>
      <p:sp>
        <p:nvSpPr>
          <p:cNvPr id="16" name="Rounded Rectangle 15"/>
          <p:cNvSpPr/>
          <p:nvPr/>
        </p:nvSpPr>
        <p:spPr>
          <a:xfrm>
            <a:off x="3749039" y="2231136"/>
            <a:ext cx="7955279" cy="502920"/>
          </a:xfrm>
          <a:prstGeom prst="roundRect">
            <a:avLst>
              <a:gd name="adj" fmla="val 6000"/>
            </a:avLst>
          </a:prstGeom>
          <a:solidFill>
            <a:srgbClr val="0B122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0" y="2350008"/>
            <a:ext cx="7772400" cy="365760"/>
          </a:xfrm>
          <a:prstGeom prst="rect">
            <a:avLst/>
          </a:prstGeom>
          <a:noFill/>
        </p:spPr>
        <p:txBody>
          <a:bodyPr wrap="square">
            <a:spAutoFit/>
          </a:bodyPr>
          <a:lstStyle/>
          <a:p>
            <a:pPr algn="l"/>
            <a:r>
              <a:rPr sz="1100" b="0">
                <a:solidFill>
                  <a:srgbClr val="E2E8F0"/>
                </a:solidFill>
                <a:latin typeface="Calibri"/>
              </a:rPr>
              <a:t>Ruleaza cele 3 functii Python ale proiectului (ingest · validate · export) fara servere de mentenut.</a:t>
            </a:r>
          </a:p>
        </p:txBody>
      </p:sp>
      <p:sp>
        <p:nvSpPr>
          <p:cNvPr id="18" name="Rounded Rectangle 17"/>
          <p:cNvSpPr/>
          <p:nvPr/>
        </p:nvSpPr>
        <p:spPr>
          <a:xfrm>
            <a:off x="457200" y="2770632"/>
            <a:ext cx="640080" cy="5029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862072"/>
            <a:ext cx="640080" cy="365760"/>
          </a:xfrm>
          <a:prstGeom prst="rect">
            <a:avLst/>
          </a:prstGeom>
          <a:noFill/>
        </p:spPr>
        <p:txBody>
          <a:bodyPr wrap="square">
            <a:spAutoFit/>
          </a:bodyPr>
          <a:lstStyle/>
          <a:p>
            <a:pPr algn="ctr"/>
            <a:r>
              <a:rPr sz="2000" b="0">
                <a:solidFill>
                  <a:srgbClr val="EF4444"/>
                </a:solidFill>
                <a:latin typeface="Calibri"/>
              </a:rPr>
              <a:t>⚙️</a:t>
            </a:r>
          </a:p>
        </p:txBody>
      </p:sp>
      <p:sp>
        <p:nvSpPr>
          <p:cNvPr id="20" name="Rounded Rectangle 19"/>
          <p:cNvSpPr/>
          <p:nvPr/>
        </p:nvSpPr>
        <p:spPr>
          <a:xfrm>
            <a:off x="1188720" y="2770632"/>
            <a:ext cx="2468880" cy="5029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2889504"/>
            <a:ext cx="2377440" cy="365760"/>
          </a:xfrm>
          <a:prstGeom prst="rect">
            <a:avLst/>
          </a:prstGeom>
          <a:noFill/>
        </p:spPr>
        <p:txBody>
          <a:bodyPr wrap="square">
            <a:spAutoFit/>
          </a:bodyPr>
          <a:lstStyle/>
          <a:p>
            <a:pPr algn="l"/>
            <a:r>
              <a:rPr sz="1300" b="1">
                <a:solidFill>
                  <a:srgbClr val="EF4444"/>
                </a:solidFill>
                <a:latin typeface="Calibri"/>
              </a:rPr>
              <a:t>AWS Glue</a:t>
            </a:r>
          </a:p>
        </p:txBody>
      </p:sp>
      <p:sp>
        <p:nvSpPr>
          <p:cNvPr id="22" name="Rounded Rectangle 21"/>
          <p:cNvSpPr/>
          <p:nvPr/>
        </p:nvSpPr>
        <p:spPr>
          <a:xfrm>
            <a:off x="3749039" y="2770632"/>
            <a:ext cx="7955279" cy="502920"/>
          </a:xfrm>
          <a:prstGeom prst="roundRect">
            <a:avLst>
              <a:gd name="adj" fmla="val 6000"/>
            </a:avLst>
          </a:prstGeom>
          <a:solidFill>
            <a:srgbClr val="0B1220"/>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31920" y="2889504"/>
            <a:ext cx="7772400" cy="365760"/>
          </a:xfrm>
          <a:prstGeom prst="rect">
            <a:avLst/>
          </a:prstGeom>
          <a:noFill/>
        </p:spPr>
        <p:txBody>
          <a:bodyPr wrap="square">
            <a:spAutoFit/>
          </a:bodyPr>
          <a:lstStyle/>
          <a:p>
            <a:pPr algn="l"/>
            <a:r>
              <a:rPr sz="1100" b="0">
                <a:solidFill>
                  <a:srgbClr val="E2E8F0"/>
                </a:solidFill>
                <a:latin typeface="Calibri"/>
              </a:rPr>
              <a:t>Motorul ETL care transforma JSON → Parquet partitionat cu 13 derivari analitice in PySpark.</a:t>
            </a:r>
          </a:p>
        </p:txBody>
      </p:sp>
      <p:sp>
        <p:nvSpPr>
          <p:cNvPr id="24" name="Rounded Rectangle 23"/>
          <p:cNvSpPr/>
          <p:nvPr/>
        </p:nvSpPr>
        <p:spPr>
          <a:xfrm>
            <a:off x="457200" y="3310128"/>
            <a:ext cx="640080" cy="5029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3401568"/>
            <a:ext cx="640080" cy="365760"/>
          </a:xfrm>
          <a:prstGeom prst="rect">
            <a:avLst/>
          </a:prstGeom>
          <a:noFill/>
        </p:spPr>
        <p:txBody>
          <a:bodyPr wrap="square">
            <a:spAutoFit/>
          </a:bodyPr>
          <a:lstStyle/>
          <a:p>
            <a:pPr algn="ctr"/>
            <a:r>
              <a:rPr sz="2000" b="0">
                <a:solidFill>
                  <a:srgbClr val="10B981"/>
                </a:solidFill>
                <a:latin typeface="Calibri"/>
              </a:rPr>
              <a:t>🎯</a:t>
            </a:r>
          </a:p>
        </p:txBody>
      </p:sp>
      <p:sp>
        <p:nvSpPr>
          <p:cNvPr id="26" name="Rounded Rectangle 25"/>
          <p:cNvSpPr/>
          <p:nvPr/>
        </p:nvSpPr>
        <p:spPr>
          <a:xfrm>
            <a:off x="1188720" y="3310128"/>
            <a:ext cx="2468880" cy="5029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80160" y="3429000"/>
            <a:ext cx="2377440" cy="365760"/>
          </a:xfrm>
          <a:prstGeom prst="rect">
            <a:avLst/>
          </a:prstGeom>
          <a:noFill/>
        </p:spPr>
        <p:txBody>
          <a:bodyPr wrap="square">
            <a:spAutoFit/>
          </a:bodyPr>
          <a:lstStyle/>
          <a:p>
            <a:pPr algn="l"/>
            <a:r>
              <a:rPr sz="1300" b="1">
                <a:solidFill>
                  <a:srgbClr val="10B981"/>
                </a:solidFill>
                <a:latin typeface="Calibri"/>
              </a:rPr>
              <a:t>AWS Step Functions</a:t>
            </a:r>
          </a:p>
        </p:txBody>
      </p:sp>
      <p:sp>
        <p:nvSpPr>
          <p:cNvPr id="28" name="Rounded Rectangle 27"/>
          <p:cNvSpPr/>
          <p:nvPr/>
        </p:nvSpPr>
        <p:spPr>
          <a:xfrm>
            <a:off x="3749039" y="3310128"/>
            <a:ext cx="7955279" cy="502920"/>
          </a:xfrm>
          <a:prstGeom prst="roundRect">
            <a:avLst>
              <a:gd name="adj" fmla="val 6000"/>
            </a:avLst>
          </a:prstGeom>
          <a:solidFill>
            <a:srgbClr val="0B1220"/>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0" y="3429000"/>
            <a:ext cx="7772400" cy="365760"/>
          </a:xfrm>
          <a:prstGeom prst="rect">
            <a:avLst/>
          </a:prstGeom>
          <a:noFill/>
        </p:spPr>
        <p:txBody>
          <a:bodyPr wrap="square">
            <a:spAutoFit/>
          </a:bodyPr>
          <a:lstStyle/>
          <a:p>
            <a:pPr algn="l"/>
            <a:r>
              <a:rPr sz="1100" b="0">
                <a:solidFill>
                  <a:srgbClr val="E2E8F0"/>
                </a:solidFill>
                <a:latin typeface="Calibri"/>
              </a:rPr>
              <a:t>Orchestreaza pipeline-ul ETL printr-un state machine vizual cu retry exponential si catch automat.</a:t>
            </a:r>
          </a:p>
        </p:txBody>
      </p:sp>
      <p:sp>
        <p:nvSpPr>
          <p:cNvPr id="30" name="Rounded Rectangle 29"/>
          <p:cNvSpPr/>
          <p:nvPr/>
        </p:nvSpPr>
        <p:spPr>
          <a:xfrm>
            <a:off x="457200" y="3849624"/>
            <a:ext cx="640080" cy="50292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3941064"/>
            <a:ext cx="640080" cy="365760"/>
          </a:xfrm>
          <a:prstGeom prst="rect">
            <a:avLst/>
          </a:prstGeom>
          <a:noFill/>
        </p:spPr>
        <p:txBody>
          <a:bodyPr wrap="square">
            <a:spAutoFit/>
          </a:bodyPr>
          <a:lstStyle/>
          <a:p>
            <a:pPr algn="ctr"/>
            <a:r>
              <a:rPr sz="2000" b="0">
                <a:solidFill>
                  <a:srgbClr val="3B82F6"/>
                </a:solidFill>
                <a:latin typeface="Calibri"/>
              </a:rPr>
              <a:t>🗄️</a:t>
            </a:r>
          </a:p>
        </p:txBody>
      </p:sp>
      <p:sp>
        <p:nvSpPr>
          <p:cNvPr id="32" name="Rounded Rectangle 31"/>
          <p:cNvSpPr/>
          <p:nvPr/>
        </p:nvSpPr>
        <p:spPr>
          <a:xfrm>
            <a:off x="1188720" y="3849624"/>
            <a:ext cx="2468880" cy="50292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80160" y="3968496"/>
            <a:ext cx="2377440" cy="365760"/>
          </a:xfrm>
          <a:prstGeom prst="rect">
            <a:avLst/>
          </a:prstGeom>
          <a:noFill/>
        </p:spPr>
        <p:txBody>
          <a:bodyPr wrap="square">
            <a:spAutoFit/>
          </a:bodyPr>
          <a:lstStyle/>
          <a:p>
            <a:pPr algn="l"/>
            <a:r>
              <a:rPr sz="1300" b="1">
                <a:solidFill>
                  <a:srgbClr val="3B82F6"/>
                </a:solidFill>
                <a:latin typeface="Calibri"/>
              </a:rPr>
              <a:t>Amazon Athena</a:t>
            </a:r>
          </a:p>
        </p:txBody>
      </p:sp>
      <p:sp>
        <p:nvSpPr>
          <p:cNvPr id="34" name="Rounded Rectangle 33"/>
          <p:cNvSpPr/>
          <p:nvPr/>
        </p:nvSpPr>
        <p:spPr>
          <a:xfrm>
            <a:off x="3749039" y="3849624"/>
            <a:ext cx="7955279" cy="502920"/>
          </a:xfrm>
          <a:prstGeom prst="roundRect">
            <a:avLst>
              <a:gd name="adj" fmla="val 6000"/>
            </a:avLst>
          </a:prstGeom>
          <a:solidFill>
            <a:srgbClr val="0B1220"/>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0" y="3968496"/>
            <a:ext cx="7772400" cy="365760"/>
          </a:xfrm>
          <a:prstGeom prst="rect">
            <a:avLst/>
          </a:prstGeom>
          <a:noFill/>
        </p:spPr>
        <p:txBody>
          <a:bodyPr wrap="square">
            <a:spAutoFit/>
          </a:bodyPr>
          <a:lstStyle/>
          <a:p>
            <a:pPr algn="l"/>
            <a:r>
              <a:rPr sz="1100" b="0">
                <a:solidFill>
                  <a:srgbClr val="E2E8F0"/>
                </a:solidFill>
                <a:latin typeface="Calibri"/>
              </a:rPr>
              <a:t>Motor SQL serverless care ruleaza cele 10 query-uri pre-definite direct pe Parquet din S3.</a:t>
            </a:r>
          </a:p>
        </p:txBody>
      </p:sp>
      <p:sp>
        <p:nvSpPr>
          <p:cNvPr id="36" name="Rounded Rectangle 35"/>
          <p:cNvSpPr/>
          <p:nvPr/>
        </p:nvSpPr>
        <p:spPr>
          <a:xfrm>
            <a:off x="457200" y="4389120"/>
            <a:ext cx="640080" cy="5029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4480560"/>
            <a:ext cx="640080" cy="365760"/>
          </a:xfrm>
          <a:prstGeom prst="rect">
            <a:avLst/>
          </a:prstGeom>
          <a:noFill/>
        </p:spPr>
        <p:txBody>
          <a:bodyPr wrap="square">
            <a:spAutoFit/>
          </a:bodyPr>
          <a:lstStyle/>
          <a:p>
            <a:pPr algn="ctr"/>
            <a:r>
              <a:rPr sz="2000" b="0">
                <a:solidFill>
                  <a:srgbClr val="EF4444"/>
                </a:solidFill>
                <a:latin typeface="Calibri"/>
              </a:rPr>
              <a:t>📊</a:t>
            </a:r>
          </a:p>
        </p:txBody>
      </p:sp>
      <p:sp>
        <p:nvSpPr>
          <p:cNvPr id="38" name="Rounded Rectangle 37"/>
          <p:cNvSpPr/>
          <p:nvPr/>
        </p:nvSpPr>
        <p:spPr>
          <a:xfrm>
            <a:off x="1188720" y="4389120"/>
            <a:ext cx="2468880" cy="5029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80160" y="4507992"/>
            <a:ext cx="2377440" cy="365760"/>
          </a:xfrm>
          <a:prstGeom prst="rect">
            <a:avLst/>
          </a:prstGeom>
          <a:noFill/>
        </p:spPr>
        <p:txBody>
          <a:bodyPr wrap="square">
            <a:spAutoFit/>
          </a:bodyPr>
          <a:lstStyle/>
          <a:p>
            <a:pPr algn="l"/>
            <a:r>
              <a:rPr sz="1300" b="1">
                <a:solidFill>
                  <a:srgbClr val="EF4444"/>
                </a:solidFill>
                <a:latin typeface="Calibri"/>
              </a:rPr>
              <a:t>Amazon QuickSight</a:t>
            </a:r>
          </a:p>
        </p:txBody>
      </p:sp>
      <p:sp>
        <p:nvSpPr>
          <p:cNvPr id="40" name="Rounded Rectangle 39"/>
          <p:cNvSpPr/>
          <p:nvPr/>
        </p:nvSpPr>
        <p:spPr>
          <a:xfrm>
            <a:off x="3749039" y="4389120"/>
            <a:ext cx="7955279" cy="502920"/>
          </a:xfrm>
          <a:prstGeom prst="roundRect">
            <a:avLst>
              <a:gd name="adj" fmla="val 6000"/>
            </a:avLst>
          </a:prstGeom>
          <a:solidFill>
            <a:srgbClr val="0B1220"/>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931920" y="4507992"/>
            <a:ext cx="7772400" cy="365760"/>
          </a:xfrm>
          <a:prstGeom prst="rect">
            <a:avLst/>
          </a:prstGeom>
          <a:noFill/>
        </p:spPr>
        <p:txBody>
          <a:bodyPr wrap="square">
            <a:spAutoFit/>
          </a:bodyPr>
          <a:lstStyle/>
          <a:p>
            <a:pPr algn="l"/>
            <a:r>
              <a:rPr sz="1100" b="0">
                <a:solidFill>
                  <a:srgbClr val="E2E8F0"/>
                </a:solidFill>
                <a:latin typeface="Calibri"/>
              </a:rPr>
              <a:t>Dashboard BI cu 7 grafice interactive, filtre dinamice si refresh automat dupa pipeline.</a:t>
            </a:r>
          </a:p>
        </p:txBody>
      </p:sp>
      <p:sp>
        <p:nvSpPr>
          <p:cNvPr id="42" name="Rounded Rectangle 41"/>
          <p:cNvSpPr/>
          <p:nvPr/>
        </p:nvSpPr>
        <p:spPr>
          <a:xfrm>
            <a:off x="457200" y="4928616"/>
            <a:ext cx="640080" cy="50292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5020056"/>
            <a:ext cx="640080" cy="365760"/>
          </a:xfrm>
          <a:prstGeom prst="rect">
            <a:avLst/>
          </a:prstGeom>
          <a:noFill/>
        </p:spPr>
        <p:txBody>
          <a:bodyPr wrap="square">
            <a:spAutoFit/>
          </a:bodyPr>
          <a:lstStyle/>
          <a:p>
            <a:pPr algn="ctr"/>
            <a:r>
              <a:rPr sz="2000" b="0">
                <a:solidFill>
                  <a:srgbClr val="F59E0B"/>
                </a:solidFill>
                <a:latin typeface="Calibri"/>
              </a:rPr>
              <a:t>📈</a:t>
            </a:r>
          </a:p>
        </p:txBody>
      </p:sp>
      <p:sp>
        <p:nvSpPr>
          <p:cNvPr id="44" name="Rounded Rectangle 43"/>
          <p:cNvSpPr/>
          <p:nvPr/>
        </p:nvSpPr>
        <p:spPr>
          <a:xfrm>
            <a:off x="1188720" y="4928616"/>
            <a:ext cx="2468880" cy="50292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280160" y="5047488"/>
            <a:ext cx="2377440" cy="365760"/>
          </a:xfrm>
          <a:prstGeom prst="rect">
            <a:avLst/>
          </a:prstGeom>
          <a:noFill/>
        </p:spPr>
        <p:txBody>
          <a:bodyPr wrap="square">
            <a:spAutoFit/>
          </a:bodyPr>
          <a:lstStyle/>
          <a:p>
            <a:pPr algn="l"/>
            <a:r>
              <a:rPr sz="1300" b="1">
                <a:solidFill>
                  <a:srgbClr val="F59E0B"/>
                </a:solidFill>
                <a:latin typeface="Calibri"/>
              </a:rPr>
              <a:t>Amazon CloudWatch</a:t>
            </a:r>
          </a:p>
        </p:txBody>
      </p:sp>
      <p:sp>
        <p:nvSpPr>
          <p:cNvPr id="46" name="Rounded Rectangle 45"/>
          <p:cNvSpPr/>
          <p:nvPr/>
        </p:nvSpPr>
        <p:spPr>
          <a:xfrm>
            <a:off x="3749039" y="4928616"/>
            <a:ext cx="7955279" cy="502920"/>
          </a:xfrm>
          <a:prstGeom prst="roundRect">
            <a:avLst>
              <a:gd name="adj" fmla="val 6000"/>
            </a:avLst>
          </a:prstGeom>
          <a:solidFill>
            <a:srgbClr val="0B122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931920" y="5047488"/>
            <a:ext cx="7772400" cy="365760"/>
          </a:xfrm>
          <a:prstGeom prst="rect">
            <a:avLst/>
          </a:prstGeom>
          <a:noFill/>
        </p:spPr>
        <p:txBody>
          <a:bodyPr wrap="square">
            <a:spAutoFit/>
          </a:bodyPr>
          <a:lstStyle/>
          <a:p>
            <a:pPr algn="l"/>
            <a:r>
              <a:rPr sz="1100" b="0">
                <a:solidFill>
                  <a:srgbClr val="E2E8F0"/>
                </a:solidFill>
                <a:latin typeface="Calibri"/>
              </a:rPr>
              <a:t>Centralizeaza logs si metrici de la toate serviciile, plus alarme email cand pipeline-ul esueaza.</a:t>
            </a:r>
          </a:p>
        </p:txBody>
      </p:sp>
      <p:sp>
        <p:nvSpPr>
          <p:cNvPr id="48" name="Rounded Rectangle 47"/>
          <p:cNvSpPr/>
          <p:nvPr/>
        </p:nvSpPr>
        <p:spPr>
          <a:xfrm>
            <a:off x="457200" y="5468112"/>
            <a:ext cx="640080" cy="5029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57200" y="5559552"/>
            <a:ext cx="640080" cy="365760"/>
          </a:xfrm>
          <a:prstGeom prst="rect">
            <a:avLst/>
          </a:prstGeom>
          <a:noFill/>
        </p:spPr>
        <p:txBody>
          <a:bodyPr wrap="square">
            <a:spAutoFit/>
          </a:bodyPr>
          <a:lstStyle/>
          <a:p>
            <a:pPr algn="ctr"/>
            <a:r>
              <a:rPr sz="2000" b="0">
                <a:solidFill>
                  <a:srgbClr val="10B981"/>
                </a:solidFill>
                <a:latin typeface="Calibri"/>
              </a:rPr>
              <a:t>🔐</a:t>
            </a:r>
          </a:p>
        </p:txBody>
      </p:sp>
      <p:sp>
        <p:nvSpPr>
          <p:cNvPr id="50" name="Rounded Rectangle 49"/>
          <p:cNvSpPr/>
          <p:nvPr/>
        </p:nvSpPr>
        <p:spPr>
          <a:xfrm>
            <a:off x="1188720" y="5468112"/>
            <a:ext cx="2468880" cy="50292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280160" y="5586984"/>
            <a:ext cx="2377440" cy="365760"/>
          </a:xfrm>
          <a:prstGeom prst="rect">
            <a:avLst/>
          </a:prstGeom>
          <a:noFill/>
        </p:spPr>
        <p:txBody>
          <a:bodyPr wrap="square">
            <a:spAutoFit/>
          </a:bodyPr>
          <a:lstStyle/>
          <a:p>
            <a:pPr algn="l"/>
            <a:r>
              <a:rPr sz="1300" b="1">
                <a:solidFill>
                  <a:srgbClr val="10B981"/>
                </a:solidFill>
                <a:latin typeface="Calibri"/>
              </a:rPr>
              <a:t>AWS IAM</a:t>
            </a:r>
          </a:p>
        </p:txBody>
      </p:sp>
      <p:sp>
        <p:nvSpPr>
          <p:cNvPr id="52" name="Rounded Rectangle 51"/>
          <p:cNvSpPr/>
          <p:nvPr/>
        </p:nvSpPr>
        <p:spPr>
          <a:xfrm>
            <a:off x="3749039" y="5468112"/>
            <a:ext cx="7955279" cy="502920"/>
          </a:xfrm>
          <a:prstGeom prst="roundRect">
            <a:avLst>
              <a:gd name="adj" fmla="val 6000"/>
            </a:avLst>
          </a:prstGeom>
          <a:solidFill>
            <a:srgbClr val="0B1220"/>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931920" y="5586984"/>
            <a:ext cx="7772400" cy="365760"/>
          </a:xfrm>
          <a:prstGeom prst="rect">
            <a:avLst/>
          </a:prstGeom>
          <a:noFill/>
        </p:spPr>
        <p:txBody>
          <a:bodyPr wrap="square">
            <a:spAutoFit/>
          </a:bodyPr>
          <a:lstStyle/>
          <a:p>
            <a:pPr algn="l"/>
            <a:r>
              <a:rPr sz="1100" b="0">
                <a:solidFill>
                  <a:srgbClr val="E2E8F0"/>
                </a:solidFill>
                <a:latin typeface="Calibri"/>
              </a:rPr>
              <a:t>Defineste 3 roluri least-privilege pentru Glue, Lambda si Step Functions; zero credentials hardcoded.</a:t>
            </a:r>
          </a:p>
        </p:txBody>
      </p:sp>
      <p:sp>
        <p:nvSpPr>
          <p:cNvPr id="54" name="Rounded Rectangle 53"/>
          <p:cNvSpPr/>
          <p:nvPr/>
        </p:nvSpPr>
        <p:spPr>
          <a:xfrm>
            <a:off x="457200" y="6007608"/>
            <a:ext cx="640080" cy="502920"/>
          </a:xfrm>
          <a:prstGeom prst="roundRect">
            <a:avLst>
              <a:gd name="adj" fmla="val 6000"/>
            </a:avLst>
          </a:prstGeom>
          <a:solidFill>
            <a:srgbClr val="1E293B"/>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7200" y="6099048"/>
            <a:ext cx="640080" cy="365760"/>
          </a:xfrm>
          <a:prstGeom prst="rect">
            <a:avLst/>
          </a:prstGeom>
          <a:noFill/>
        </p:spPr>
        <p:txBody>
          <a:bodyPr wrap="square">
            <a:spAutoFit/>
          </a:bodyPr>
          <a:lstStyle/>
          <a:p>
            <a:pPr algn="ctr"/>
            <a:r>
              <a:rPr sz="2000" b="0">
                <a:solidFill>
                  <a:srgbClr val="A78BFA"/>
                </a:solidFill>
                <a:latin typeface="Calibri"/>
              </a:rPr>
              <a:t>⏰</a:t>
            </a:r>
          </a:p>
        </p:txBody>
      </p:sp>
      <p:sp>
        <p:nvSpPr>
          <p:cNvPr id="56" name="Rounded Rectangle 55"/>
          <p:cNvSpPr/>
          <p:nvPr/>
        </p:nvSpPr>
        <p:spPr>
          <a:xfrm>
            <a:off x="1188720" y="6007608"/>
            <a:ext cx="2468880" cy="502920"/>
          </a:xfrm>
          <a:prstGeom prst="roundRect">
            <a:avLst>
              <a:gd name="adj" fmla="val 6000"/>
            </a:avLst>
          </a:prstGeom>
          <a:solidFill>
            <a:srgbClr val="1E293B"/>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280160" y="6126480"/>
            <a:ext cx="2377440" cy="365760"/>
          </a:xfrm>
          <a:prstGeom prst="rect">
            <a:avLst/>
          </a:prstGeom>
          <a:noFill/>
        </p:spPr>
        <p:txBody>
          <a:bodyPr wrap="square">
            <a:spAutoFit/>
          </a:bodyPr>
          <a:lstStyle/>
          <a:p>
            <a:pPr algn="l"/>
            <a:r>
              <a:rPr sz="1300" b="1">
                <a:solidFill>
                  <a:srgbClr val="A78BFA"/>
                </a:solidFill>
                <a:latin typeface="Calibri"/>
              </a:rPr>
              <a:t>Amazon EventBridge</a:t>
            </a:r>
          </a:p>
        </p:txBody>
      </p:sp>
      <p:sp>
        <p:nvSpPr>
          <p:cNvPr id="58" name="Rounded Rectangle 57"/>
          <p:cNvSpPr/>
          <p:nvPr/>
        </p:nvSpPr>
        <p:spPr>
          <a:xfrm>
            <a:off x="3749039" y="6007608"/>
            <a:ext cx="7955279" cy="502920"/>
          </a:xfrm>
          <a:prstGeom prst="roundRect">
            <a:avLst>
              <a:gd name="adj" fmla="val 6000"/>
            </a:avLst>
          </a:prstGeom>
          <a:solidFill>
            <a:srgbClr val="0B1220"/>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931920" y="6126480"/>
            <a:ext cx="7772400" cy="365760"/>
          </a:xfrm>
          <a:prstGeom prst="rect">
            <a:avLst/>
          </a:prstGeom>
          <a:noFill/>
        </p:spPr>
        <p:txBody>
          <a:bodyPr wrap="square">
            <a:spAutoFit/>
          </a:bodyPr>
          <a:lstStyle/>
          <a:p>
            <a:pPr algn="l"/>
            <a:r>
              <a:rPr sz="1100" b="0">
                <a:solidFill>
                  <a:srgbClr val="E2E8F0"/>
                </a:solidFill>
                <a:latin typeface="Calibri"/>
              </a:rPr>
              <a:t>Cron scheduler care declanseaza pipeline-ul automat zilnic la 06:00 UTC (08:00 ora Romaniei).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Amazon S3 — Data Lake</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Storage layer · 5 bucket-uri partitionate Hive-style</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S3 (Simple Storage Service) este serviciul AWS de stocare obiect — practic un hard disk infinit in cloud, accesibil prin API, cu cost ~$0.023/GB/luna. Folosit ca data lake pentru orice format (JSON, Parquet, CSV, imagini).</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3B82F6"/>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Coloana vertebrala de storage a proiectului — 5 bucket-uri pentru date brute, procesate, cache Athena, exporturi user-facing si site-ul static al frontend-ului. Partitionarea Hive city/year/month reduce cu 90% datele scanate la query-uri.</a:t>
            </a:r>
          </a:p>
        </p:txBody>
      </p:sp>
      <p:sp>
        <p:nvSpPr>
          <p:cNvPr id="14" name="Rounded Rectangle 13"/>
          <p:cNvSpPr/>
          <p:nvPr/>
        </p:nvSpPr>
        <p:spPr>
          <a:xfrm>
            <a:off x="457200" y="3154680"/>
            <a:ext cx="11247120" cy="45720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246120"/>
            <a:ext cx="4114800" cy="365760"/>
          </a:xfrm>
          <a:prstGeom prst="rect">
            <a:avLst/>
          </a:prstGeom>
          <a:noFill/>
        </p:spPr>
        <p:txBody>
          <a:bodyPr wrap="square">
            <a:spAutoFit/>
          </a:bodyPr>
          <a:lstStyle/>
          <a:p>
            <a:pPr algn="l"/>
            <a:r>
              <a:rPr sz="1300" b="1">
                <a:solidFill>
                  <a:srgbClr val="3B82F6"/>
                </a:solidFill>
                <a:latin typeface="Calibri"/>
              </a:rPr>
              <a:t>weatherlens-raw</a:t>
            </a:r>
          </a:p>
        </p:txBody>
      </p:sp>
      <p:sp>
        <p:nvSpPr>
          <p:cNvPr id="16" name="TextBox 15"/>
          <p:cNvSpPr txBox="1"/>
          <p:nvPr/>
        </p:nvSpPr>
        <p:spPr>
          <a:xfrm>
            <a:off x="4846320" y="3246120"/>
            <a:ext cx="6766560" cy="365760"/>
          </a:xfrm>
          <a:prstGeom prst="rect">
            <a:avLst/>
          </a:prstGeom>
          <a:noFill/>
        </p:spPr>
        <p:txBody>
          <a:bodyPr wrap="square">
            <a:spAutoFit/>
          </a:bodyPr>
          <a:lstStyle/>
          <a:p>
            <a:pPr algn="l"/>
            <a:r>
              <a:rPr sz="1200" b="0">
                <a:solidFill>
                  <a:srgbClr val="E2E8F0"/>
                </a:solidFill>
                <a:latin typeface="Calibri"/>
              </a:rPr>
              <a:t>JSON brut, partitionat year=Y/month=M/day=D/</a:t>
            </a:r>
          </a:p>
        </p:txBody>
      </p:sp>
      <p:sp>
        <p:nvSpPr>
          <p:cNvPr id="17" name="Rounded Rectangle 16"/>
          <p:cNvSpPr/>
          <p:nvPr/>
        </p:nvSpPr>
        <p:spPr>
          <a:xfrm>
            <a:off x="457200" y="3685032"/>
            <a:ext cx="11247120" cy="45720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776472"/>
            <a:ext cx="4114800" cy="365760"/>
          </a:xfrm>
          <a:prstGeom prst="rect">
            <a:avLst/>
          </a:prstGeom>
          <a:noFill/>
        </p:spPr>
        <p:txBody>
          <a:bodyPr wrap="square">
            <a:spAutoFit/>
          </a:bodyPr>
          <a:lstStyle/>
          <a:p>
            <a:pPr algn="l"/>
            <a:r>
              <a:rPr sz="1300" b="1">
                <a:solidFill>
                  <a:srgbClr val="3B82F6"/>
                </a:solidFill>
                <a:latin typeface="Calibri"/>
              </a:rPr>
              <a:t>weatherlens-processed</a:t>
            </a:r>
          </a:p>
        </p:txBody>
      </p:sp>
      <p:sp>
        <p:nvSpPr>
          <p:cNvPr id="19" name="TextBox 18"/>
          <p:cNvSpPr txBox="1"/>
          <p:nvPr/>
        </p:nvSpPr>
        <p:spPr>
          <a:xfrm>
            <a:off x="4846320" y="3776472"/>
            <a:ext cx="6766560" cy="365760"/>
          </a:xfrm>
          <a:prstGeom prst="rect">
            <a:avLst/>
          </a:prstGeom>
          <a:noFill/>
        </p:spPr>
        <p:txBody>
          <a:bodyPr wrap="square">
            <a:spAutoFit/>
          </a:bodyPr>
          <a:lstStyle/>
          <a:p>
            <a:pPr algn="l"/>
            <a:r>
              <a:rPr sz="1200" b="0">
                <a:solidFill>
                  <a:srgbClr val="E2E8F0"/>
                </a:solidFill>
                <a:latin typeface="Calibri"/>
              </a:rPr>
              <a:t>Parquet+Snappy: city=X/year=Y/month=M/data_*.parquet</a:t>
            </a:r>
          </a:p>
        </p:txBody>
      </p:sp>
      <p:sp>
        <p:nvSpPr>
          <p:cNvPr id="20" name="Rounded Rectangle 19"/>
          <p:cNvSpPr/>
          <p:nvPr/>
        </p:nvSpPr>
        <p:spPr>
          <a:xfrm>
            <a:off x="457200" y="4215384"/>
            <a:ext cx="11247120" cy="45720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306824"/>
            <a:ext cx="4114800" cy="365760"/>
          </a:xfrm>
          <a:prstGeom prst="rect">
            <a:avLst/>
          </a:prstGeom>
          <a:noFill/>
        </p:spPr>
        <p:txBody>
          <a:bodyPr wrap="square">
            <a:spAutoFit/>
          </a:bodyPr>
          <a:lstStyle/>
          <a:p>
            <a:pPr algn="l"/>
            <a:r>
              <a:rPr sz="1300" b="1">
                <a:solidFill>
                  <a:srgbClr val="3B82F6"/>
                </a:solidFill>
                <a:latin typeface="Calibri"/>
              </a:rPr>
              <a:t>weatherlens-athena</a:t>
            </a:r>
          </a:p>
        </p:txBody>
      </p:sp>
      <p:sp>
        <p:nvSpPr>
          <p:cNvPr id="22" name="TextBox 21"/>
          <p:cNvSpPr txBox="1"/>
          <p:nvPr/>
        </p:nvSpPr>
        <p:spPr>
          <a:xfrm>
            <a:off x="4846320" y="4306824"/>
            <a:ext cx="6766560" cy="365760"/>
          </a:xfrm>
          <a:prstGeom prst="rect">
            <a:avLst/>
          </a:prstGeom>
          <a:noFill/>
        </p:spPr>
        <p:txBody>
          <a:bodyPr wrap="square">
            <a:spAutoFit/>
          </a:bodyPr>
          <a:lstStyle/>
          <a:p>
            <a:pPr algn="l"/>
            <a:r>
              <a:rPr sz="1200" b="0">
                <a:solidFill>
                  <a:srgbClr val="E2E8F0"/>
                </a:solidFill>
                <a:latin typeface="Calibri"/>
              </a:rPr>
              <a:t>Cache pentru rezultatele query-urilor Athena</a:t>
            </a:r>
          </a:p>
        </p:txBody>
      </p:sp>
      <p:sp>
        <p:nvSpPr>
          <p:cNvPr id="23" name="Rounded Rectangle 22"/>
          <p:cNvSpPr/>
          <p:nvPr/>
        </p:nvSpPr>
        <p:spPr>
          <a:xfrm>
            <a:off x="457200" y="4745736"/>
            <a:ext cx="11247120" cy="45720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837176"/>
            <a:ext cx="4114800" cy="365760"/>
          </a:xfrm>
          <a:prstGeom prst="rect">
            <a:avLst/>
          </a:prstGeom>
          <a:noFill/>
        </p:spPr>
        <p:txBody>
          <a:bodyPr wrap="square">
            <a:spAutoFit/>
          </a:bodyPr>
          <a:lstStyle/>
          <a:p>
            <a:pPr algn="l"/>
            <a:r>
              <a:rPr sz="1300" b="1">
                <a:solidFill>
                  <a:srgbClr val="3B82F6"/>
                </a:solidFill>
                <a:latin typeface="Calibri"/>
              </a:rPr>
              <a:t>weatherlens-exports</a:t>
            </a:r>
          </a:p>
        </p:txBody>
      </p:sp>
      <p:sp>
        <p:nvSpPr>
          <p:cNvPr id="25" name="TextBox 24"/>
          <p:cNvSpPr txBox="1"/>
          <p:nvPr/>
        </p:nvSpPr>
        <p:spPr>
          <a:xfrm>
            <a:off x="4846320" y="4837176"/>
            <a:ext cx="6766560" cy="365760"/>
          </a:xfrm>
          <a:prstGeom prst="rect">
            <a:avLst/>
          </a:prstGeom>
          <a:noFill/>
        </p:spPr>
        <p:txBody>
          <a:bodyPr wrap="square">
            <a:spAutoFit/>
          </a:bodyPr>
          <a:lstStyle/>
          <a:p>
            <a:pPr algn="l"/>
            <a:r>
              <a:rPr sz="1200" b="0">
                <a:solidFill>
                  <a:srgbClr val="E2E8F0"/>
                </a:solidFill>
                <a:latin typeface="Calibri"/>
              </a:rPr>
              <a:t>Excel / CSV / JSON generate la cerere</a:t>
            </a:r>
          </a:p>
        </p:txBody>
      </p:sp>
      <p:sp>
        <p:nvSpPr>
          <p:cNvPr id="26" name="Rounded Rectangle 25"/>
          <p:cNvSpPr/>
          <p:nvPr/>
        </p:nvSpPr>
        <p:spPr>
          <a:xfrm>
            <a:off x="457200" y="5276088"/>
            <a:ext cx="11247120" cy="45720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367528"/>
            <a:ext cx="4114800" cy="365760"/>
          </a:xfrm>
          <a:prstGeom prst="rect">
            <a:avLst/>
          </a:prstGeom>
          <a:noFill/>
        </p:spPr>
        <p:txBody>
          <a:bodyPr wrap="square">
            <a:spAutoFit/>
          </a:bodyPr>
          <a:lstStyle/>
          <a:p>
            <a:pPr algn="l"/>
            <a:r>
              <a:rPr sz="1300" b="1">
                <a:solidFill>
                  <a:srgbClr val="3B82F6"/>
                </a:solidFill>
                <a:latin typeface="Calibri"/>
              </a:rPr>
              <a:t>weatherlens-frontend</a:t>
            </a:r>
          </a:p>
        </p:txBody>
      </p:sp>
      <p:sp>
        <p:nvSpPr>
          <p:cNvPr id="28" name="TextBox 27"/>
          <p:cNvSpPr txBox="1"/>
          <p:nvPr/>
        </p:nvSpPr>
        <p:spPr>
          <a:xfrm>
            <a:off x="4846320" y="5367528"/>
            <a:ext cx="6766560" cy="365760"/>
          </a:xfrm>
          <a:prstGeom prst="rect">
            <a:avLst/>
          </a:prstGeom>
          <a:noFill/>
        </p:spPr>
        <p:txBody>
          <a:bodyPr wrap="square">
            <a:spAutoFit/>
          </a:bodyPr>
          <a:lstStyle/>
          <a:p>
            <a:pPr algn="l"/>
            <a:r>
              <a:rPr sz="1200" b="0">
                <a:solidFill>
                  <a:srgbClr val="E2E8F0"/>
                </a:solidFill>
                <a:latin typeface="Calibri"/>
              </a:rPr>
              <a:t>Static website hosting pentru dashboard HTML/JS</a:t>
            </a:r>
          </a:p>
        </p:txBody>
      </p:sp>
      <p:sp>
        <p:nvSpPr>
          <p:cNvPr id="29" name="TextBox 28"/>
          <p:cNvSpPr txBox="1"/>
          <p:nvPr/>
        </p:nvSpPr>
        <p:spPr>
          <a:xfrm>
            <a:off x="457200" y="6446520"/>
            <a:ext cx="11247120" cy="365760"/>
          </a:xfrm>
          <a:prstGeom prst="rect">
            <a:avLst/>
          </a:prstGeom>
          <a:noFill/>
        </p:spPr>
        <p:txBody>
          <a:bodyPr wrap="square">
            <a:spAutoFit/>
          </a:bodyPr>
          <a:lstStyle/>
          <a:p>
            <a:pPr algn="ctr"/>
            <a:r>
              <a:rPr sz="1100" b="0">
                <a:solidFill>
                  <a:srgbClr val="94A3B8"/>
                </a:solidFill>
                <a:latin typeface="Calibri"/>
              </a:rPr>
              <a:t>Versioning activat · Lifecycle: raw &gt; 90 zile auto-deleted · Snappy: 10x compresie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AWS Lambda — Compute serverless</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3 functii Python · pay-per-use · zero infra de mentenut</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Lambda este modelul Function-as-a-Service de la AWS — scrii o functie Python, AWS o ruleaza la cerere fara servere de configurat. Platesti doar pentru milisecundele in care ruleaza efectiv; Free Tier acopera 1 milion de invocari/luna.</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F59E0B"/>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Ruleaza cele 3 functii Python ale proiectului: ingest zilnic din Open-Meteo (cron-triggered), validare schema JSON inainte de ETL (sfn-triggered) si generare exports Excel/CSV/JSON la cerere din frontend (api-triggered).</a:t>
            </a:r>
          </a:p>
        </p:txBody>
      </p:sp>
      <p:sp>
        <p:nvSpPr>
          <p:cNvPr id="14" name="Rounded Rectangle 13"/>
          <p:cNvSpPr/>
          <p:nvPr/>
        </p:nvSpPr>
        <p:spPr>
          <a:xfrm>
            <a:off x="457200" y="3154680"/>
            <a:ext cx="11247120" cy="86868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273552"/>
            <a:ext cx="10881360" cy="365760"/>
          </a:xfrm>
          <a:prstGeom prst="rect">
            <a:avLst/>
          </a:prstGeom>
          <a:noFill/>
        </p:spPr>
        <p:txBody>
          <a:bodyPr wrap="square">
            <a:spAutoFit/>
          </a:bodyPr>
          <a:lstStyle/>
          <a:p>
            <a:pPr algn="l"/>
            <a:r>
              <a:rPr sz="1500" b="1">
                <a:solidFill>
                  <a:srgbClr val="F59E0B"/>
                </a:solidFill>
                <a:latin typeface="Calibri"/>
              </a:rPr>
              <a:t>weatherlens-ingest</a:t>
            </a:r>
          </a:p>
        </p:txBody>
      </p:sp>
      <p:sp>
        <p:nvSpPr>
          <p:cNvPr id="16" name="TextBox 15"/>
          <p:cNvSpPr txBox="1"/>
          <p:nvPr/>
        </p:nvSpPr>
        <p:spPr>
          <a:xfrm>
            <a:off x="640080" y="3611880"/>
            <a:ext cx="10881360" cy="365760"/>
          </a:xfrm>
          <a:prstGeom prst="rect">
            <a:avLst/>
          </a:prstGeom>
          <a:noFill/>
        </p:spPr>
        <p:txBody>
          <a:bodyPr wrap="square">
            <a:spAutoFit/>
          </a:bodyPr>
          <a:lstStyle/>
          <a:p>
            <a:pPr algn="l"/>
            <a:r>
              <a:rPr sz="1200" b="0">
                <a:solidFill>
                  <a:srgbClr val="E2E8F0"/>
                </a:solidFill>
                <a:latin typeface="Calibri"/>
              </a:rPr>
              <a:t>Apeleaza Open-Meteo pentru 5 orase, salveaza JSON in S3 raw. Cron 06:00 UTC.</a:t>
            </a:r>
          </a:p>
        </p:txBody>
      </p:sp>
      <p:sp>
        <p:nvSpPr>
          <p:cNvPr id="17" name="Rounded Rectangle 16"/>
          <p:cNvSpPr/>
          <p:nvPr/>
        </p:nvSpPr>
        <p:spPr>
          <a:xfrm>
            <a:off x="457200" y="4133088"/>
            <a:ext cx="11247120" cy="86868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251960"/>
            <a:ext cx="10881360" cy="365760"/>
          </a:xfrm>
          <a:prstGeom prst="rect">
            <a:avLst/>
          </a:prstGeom>
          <a:noFill/>
        </p:spPr>
        <p:txBody>
          <a:bodyPr wrap="square">
            <a:spAutoFit/>
          </a:bodyPr>
          <a:lstStyle/>
          <a:p>
            <a:pPr algn="l"/>
            <a:r>
              <a:rPr sz="1500" b="1">
                <a:solidFill>
                  <a:srgbClr val="F59E0B"/>
                </a:solidFill>
                <a:latin typeface="Calibri"/>
              </a:rPr>
              <a:t>weatherlens-validate</a:t>
            </a:r>
          </a:p>
        </p:txBody>
      </p:sp>
      <p:sp>
        <p:nvSpPr>
          <p:cNvPr id="19" name="TextBox 18"/>
          <p:cNvSpPr txBox="1"/>
          <p:nvPr/>
        </p:nvSpPr>
        <p:spPr>
          <a:xfrm>
            <a:off x="640080" y="4590288"/>
            <a:ext cx="10881360" cy="365760"/>
          </a:xfrm>
          <a:prstGeom prst="rect">
            <a:avLst/>
          </a:prstGeom>
          <a:noFill/>
        </p:spPr>
        <p:txBody>
          <a:bodyPr wrap="square">
            <a:spAutoFit/>
          </a:bodyPr>
          <a:lstStyle/>
          <a:p>
            <a:pPr algn="l"/>
            <a:r>
              <a:rPr sz="1200" b="0">
                <a:solidFill>
                  <a:srgbClr val="E2E8F0"/>
                </a:solidFill>
                <a:latin typeface="Calibri"/>
              </a:rPr>
              <a:t>Verifica schema JSON inainte de ETL. Apelata din Step Functions.</a:t>
            </a:r>
          </a:p>
        </p:txBody>
      </p:sp>
      <p:sp>
        <p:nvSpPr>
          <p:cNvPr id="20" name="Rounded Rectangle 19"/>
          <p:cNvSpPr/>
          <p:nvPr/>
        </p:nvSpPr>
        <p:spPr>
          <a:xfrm>
            <a:off x="457200" y="5111496"/>
            <a:ext cx="11247120" cy="86868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5230368"/>
            <a:ext cx="10881360" cy="365760"/>
          </a:xfrm>
          <a:prstGeom prst="rect">
            <a:avLst/>
          </a:prstGeom>
          <a:noFill/>
        </p:spPr>
        <p:txBody>
          <a:bodyPr wrap="square">
            <a:spAutoFit/>
          </a:bodyPr>
          <a:lstStyle/>
          <a:p>
            <a:pPr algn="l"/>
            <a:r>
              <a:rPr sz="1500" b="1">
                <a:solidFill>
                  <a:srgbClr val="F59E0B"/>
                </a:solidFill>
                <a:latin typeface="Calibri"/>
              </a:rPr>
              <a:t>weatherlens-export</a:t>
            </a:r>
          </a:p>
        </p:txBody>
      </p:sp>
      <p:sp>
        <p:nvSpPr>
          <p:cNvPr id="22" name="TextBox 21"/>
          <p:cNvSpPr txBox="1"/>
          <p:nvPr/>
        </p:nvSpPr>
        <p:spPr>
          <a:xfrm>
            <a:off x="640080" y="5568696"/>
            <a:ext cx="10881360" cy="365760"/>
          </a:xfrm>
          <a:prstGeom prst="rect">
            <a:avLst/>
          </a:prstGeom>
          <a:noFill/>
        </p:spPr>
        <p:txBody>
          <a:bodyPr wrap="square">
            <a:spAutoFit/>
          </a:bodyPr>
          <a:lstStyle/>
          <a:p>
            <a:pPr algn="l"/>
            <a:r>
              <a:rPr sz="1200" b="0">
                <a:solidFill>
                  <a:srgbClr val="E2E8F0"/>
                </a:solidFill>
                <a:latin typeface="Calibri"/>
              </a:rPr>
              <a:t>Genereaza Excel/CSV/JSON la cerere. Ruleaza Athena, returneaza URL presemnat.</a:t>
            </a:r>
          </a:p>
        </p:txBody>
      </p:sp>
      <p:sp>
        <p:nvSpPr>
          <p:cNvPr id="23" name="TextBox 22"/>
          <p:cNvSpPr txBox="1"/>
          <p:nvPr/>
        </p:nvSpPr>
        <p:spPr>
          <a:xfrm>
            <a:off x="457200" y="6446520"/>
            <a:ext cx="11247120" cy="365760"/>
          </a:xfrm>
          <a:prstGeom prst="rect">
            <a:avLst/>
          </a:prstGeom>
          <a:noFill/>
        </p:spPr>
        <p:txBody>
          <a:bodyPr wrap="square">
            <a:spAutoFit/>
          </a:bodyPr>
          <a:lstStyle/>
          <a:p>
            <a:pPr algn="ctr"/>
            <a:r>
              <a:rPr sz="1100" b="0">
                <a:solidFill>
                  <a:srgbClr val="94A3B8"/>
                </a:solidFill>
                <a:latin typeface="Calibri"/>
              </a:rPr>
              <a:t>Runtime: Python 3.11 · Memory: 256 MB · Timeout: 300s · Layer cu requests + boto3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AWS Glue — ETL serverless cu PySpark</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JSON → Parquet · 13 coloane derivate · validare automata</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Glue este versiunea managed a Apache Spark — un cluster care apare la cerere, ruleaza job-ul ETL si se opreste automat. Avantaj cheie: scaleaza de la 100 MB la 100 TB fara modificari de cod, doar ajustand numarul de workers.</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EF4444"/>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Motorul ETL care citeste JSON brut din S3 raw, aplica 13 derivari analitice (sezon, rolling avg 24h, anomalii, categorii vant, flag fenomene extreme) plus validare ranges, si scrie Parquet partitionat. La volumul nostru ruleaza in &lt;3 minute pe 2 workers G.1X.</a:t>
            </a:r>
          </a:p>
        </p:txBody>
      </p:sp>
      <p:sp>
        <p:nvSpPr>
          <p:cNvPr id="14" name="TextBox 13"/>
          <p:cNvSpPr txBox="1"/>
          <p:nvPr/>
        </p:nvSpPr>
        <p:spPr>
          <a:xfrm>
            <a:off x="640080" y="3154680"/>
            <a:ext cx="10972800" cy="3200400"/>
          </a:xfrm>
          <a:prstGeom prst="rect">
            <a:avLst/>
          </a:prstGeom>
          <a:noFill/>
        </p:spPr>
        <p:txBody>
          <a:bodyPr wrap="square">
            <a:spAutoFit/>
          </a:bodyPr>
          <a:lstStyle/>
          <a:p>
            <a:pPr algn="l">
              <a:spcAft>
                <a:spcPts val="300"/>
              </a:spcAft>
            </a:pPr>
            <a:r>
              <a:rPr sz="1200">
                <a:solidFill>
                  <a:srgbClr val="E2E8F0"/>
                </a:solidFill>
                <a:latin typeface="Calibri"/>
              </a:rPr>
              <a:t>•  Flatten JSON arrays paralele → 1 rand per ora</a:t>
            </a:r>
          </a:p>
          <a:p>
            <a:pPr algn="l">
              <a:spcAft>
                <a:spcPts val="300"/>
              </a:spcAft>
            </a:pPr>
            <a:r>
              <a:rPr sz="1200">
                <a:solidFill>
                  <a:srgbClr val="E2E8F0"/>
                </a:solidFill>
                <a:latin typeface="Calibri"/>
              </a:rPr>
              <a:t>•  Parse timestamp → date, hour, day_of_week, season, is_daytime</a:t>
            </a:r>
          </a:p>
          <a:p>
            <a:pPr algn="l">
              <a:spcAft>
                <a:spcPts val="300"/>
              </a:spcAft>
            </a:pPr>
            <a:r>
              <a:rPr sz="1200">
                <a:solidFill>
                  <a:srgbClr val="E2E8F0"/>
                </a:solidFill>
                <a:latin typeface="Calibri"/>
              </a:rPr>
              <a:t>•  Map weather_code (WMO) → weather_description + weather_category</a:t>
            </a:r>
          </a:p>
          <a:p>
            <a:pPr algn="l">
              <a:spcAft>
                <a:spcPts val="300"/>
              </a:spcAft>
            </a:pPr>
            <a:r>
              <a:rPr sz="1200">
                <a:solidFill>
                  <a:srgbClr val="E2E8F0"/>
                </a:solidFill>
                <a:latin typeface="Calibri"/>
              </a:rPr>
              <a:t>•  Validate ranges: temp ∈ [-50, 55], wind ∈ [0, 300] → null daca out-of-range</a:t>
            </a:r>
          </a:p>
          <a:p>
            <a:pPr algn="l">
              <a:spcAft>
                <a:spcPts val="300"/>
              </a:spcAft>
            </a:pPr>
            <a:r>
              <a:rPr sz="1200">
                <a:solidFill>
                  <a:srgbClr val="E2E8F0"/>
                </a:solidFill>
                <a:latin typeface="Calibri"/>
              </a:rPr>
              <a:t>•  Rolling avg 24h cu PySpark Window functions (per oras)</a:t>
            </a:r>
          </a:p>
          <a:p>
            <a:pPr algn="l">
              <a:spcAft>
                <a:spcPts val="300"/>
              </a:spcAft>
            </a:pPr>
            <a:r>
              <a:rPr sz="1200">
                <a:solidFill>
                  <a:srgbClr val="E2E8F0"/>
                </a:solidFill>
                <a:latin typeface="Calibri"/>
              </a:rPr>
              <a:t>•  Anomaly = temp curent - daily_avg per oras</a:t>
            </a:r>
          </a:p>
          <a:p>
            <a:pPr algn="l">
              <a:spcAft>
                <a:spcPts val="300"/>
              </a:spcAft>
            </a:pPr>
            <a:r>
              <a:rPr sz="1200">
                <a:solidFill>
                  <a:srgbClr val="E2E8F0"/>
                </a:solidFill>
                <a:latin typeface="Calibri"/>
              </a:rPr>
              <a:t>•  Wind category: Calm / Light / Moderate / Strong / Storm</a:t>
            </a:r>
          </a:p>
          <a:p>
            <a:pPr algn="l">
              <a:spcAft>
                <a:spcPts val="300"/>
              </a:spcAft>
            </a:pPr>
            <a:r>
              <a:rPr sz="1200">
                <a:solidFill>
                  <a:srgbClr val="E2E8F0"/>
                </a:solidFill>
                <a:latin typeface="Calibri"/>
              </a:rPr>
              <a:t>•  Extreme event flag: temp extrema, ploaie &gt;20 mm, vant &gt;80 km/h</a:t>
            </a:r>
          </a:p>
          <a:p>
            <a:pPr algn="l">
              <a:spcAft>
                <a:spcPts val="300"/>
              </a:spcAft>
            </a:pPr>
            <a:r>
              <a:rPr sz="1200">
                <a:solidFill>
                  <a:srgbClr val="E2E8F0"/>
                </a:solidFill>
                <a:latin typeface="Calibri"/>
              </a:rPr>
              <a:t>•  Dedupe pe (city, timestamp) si write Parquet+Snappy partitionat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84775"/>
          </a:xfrm>
          <a:prstGeom prst="rect">
            <a:avLst/>
          </a:prstGeom>
          <a:noFill/>
        </p:spPr>
        <p:txBody>
          <a:bodyPr wrap="square">
            <a:spAutoFit/>
          </a:bodyPr>
          <a:lstStyle/>
          <a:p>
            <a:pPr algn="l"/>
            <a:r>
              <a:rPr sz="3200" b="1" dirty="0">
                <a:solidFill>
                  <a:srgbClr val="E2E8F0"/>
                </a:solidFill>
                <a:latin typeface="Calibri"/>
              </a:rPr>
              <a:t>AWS Step Functions ⭐</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Orchestrare vizuala state machine cu retry/catch automat</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Step Functions defineste pipeline-ul ca un graf de stari in JSON (Amazon States Language) — fiecare pas are retry policy si error handler declarativi. Vizualizarea grafica live transforma debugging-ul dintr-o cautare prin loguri intr-o privire pe diagrama.</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10B981"/>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Orchestreaza pipeline-ul ETL printr-un state machine cu 4 pasi: declanseaza Lambda de validare, asteapta Glue Job-ul sa se termine, ruleaza Glue Crawler-ul si emite metricile finale catre CloudWatch. Retry exponential la fiecare pas, automat.</a:t>
            </a:r>
          </a:p>
        </p:txBody>
      </p:sp>
      <p:sp>
        <p:nvSpPr>
          <p:cNvPr id="14" name="Rounded Rectangle 13"/>
          <p:cNvSpPr/>
          <p:nvPr/>
        </p:nvSpPr>
        <p:spPr>
          <a:xfrm>
            <a:off x="1222095" y="3154680"/>
            <a:ext cx="2286000" cy="54864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22095" y="3273552"/>
            <a:ext cx="2286000" cy="365760"/>
          </a:xfrm>
          <a:prstGeom prst="rect">
            <a:avLst/>
          </a:prstGeom>
          <a:noFill/>
        </p:spPr>
        <p:txBody>
          <a:bodyPr wrap="square">
            <a:spAutoFit/>
          </a:bodyPr>
          <a:lstStyle/>
          <a:p>
            <a:pPr algn="ctr"/>
            <a:r>
              <a:rPr sz="1300" b="1">
                <a:solidFill>
                  <a:srgbClr val="3B82F6"/>
                </a:solidFill>
                <a:latin typeface="Calibri"/>
              </a:rPr>
              <a:t>Validate</a:t>
            </a:r>
          </a:p>
        </p:txBody>
      </p:sp>
      <p:sp>
        <p:nvSpPr>
          <p:cNvPr id="16" name="TextBox 15"/>
          <p:cNvSpPr txBox="1"/>
          <p:nvPr/>
        </p:nvSpPr>
        <p:spPr>
          <a:xfrm>
            <a:off x="3508095" y="3273552"/>
            <a:ext cx="201168" cy="365760"/>
          </a:xfrm>
          <a:prstGeom prst="rect">
            <a:avLst/>
          </a:prstGeom>
          <a:noFill/>
        </p:spPr>
        <p:txBody>
          <a:bodyPr wrap="square">
            <a:spAutoFit/>
          </a:bodyPr>
          <a:lstStyle/>
          <a:p>
            <a:pPr algn="ctr"/>
            <a:r>
              <a:rPr sz="1800" b="1">
                <a:solidFill>
                  <a:srgbClr val="94A3B8"/>
                </a:solidFill>
                <a:latin typeface="Calibri"/>
              </a:rPr>
              <a:t>→</a:t>
            </a:r>
          </a:p>
        </p:txBody>
      </p:sp>
      <p:sp>
        <p:nvSpPr>
          <p:cNvPr id="17" name="Rounded Rectangle 16"/>
          <p:cNvSpPr/>
          <p:nvPr/>
        </p:nvSpPr>
        <p:spPr>
          <a:xfrm>
            <a:off x="3709263" y="3154680"/>
            <a:ext cx="2286000" cy="54864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09263" y="3273552"/>
            <a:ext cx="2286000" cy="365760"/>
          </a:xfrm>
          <a:prstGeom prst="rect">
            <a:avLst/>
          </a:prstGeom>
          <a:noFill/>
        </p:spPr>
        <p:txBody>
          <a:bodyPr wrap="square">
            <a:spAutoFit/>
          </a:bodyPr>
          <a:lstStyle/>
          <a:p>
            <a:pPr algn="ctr"/>
            <a:r>
              <a:rPr sz="1300" b="1">
                <a:solidFill>
                  <a:srgbClr val="EF4444"/>
                </a:solidFill>
                <a:latin typeface="Calibri"/>
              </a:rPr>
              <a:t>RunGlueETL</a:t>
            </a:r>
          </a:p>
        </p:txBody>
      </p:sp>
      <p:sp>
        <p:nvSpPr>
          <p:cNvPr id="19" name="TextBox 18"/>
          <p:cNvSpPr txBox="1"/>
          <p:nvPr/>
        </p:nvSpPr>
        <p:spPr>
          <a:xfrm>
            <a:off x="5995263" y="3273552"/>
            <a:ext cx="201168" cy="365760"/>
          </a:xfrm>
          <a:prstGeom prst="rect">
            <a:avLst/>
          </a:prstGeom>
          <a:noFill/>
        </p:spPr>
        <p:txBody>
          <a:bodyPr wrap="square">
            <a:spAutoFit/>
          </a:bodyPr>
          <a:lstStyle/>
          <a:p>
            <a:pPr algn="ctr"/>
            <a:r>
              <a:rPr sz="1800" b="1">
                <a:solidFill>
                  <a:srgbClr val="94A3B8"/>
                </a:solidFill>
                <a:latin typeface="Calibri"/>
              </a:rPr>
              <a:t>→</a:t>
            </a:r>
          </a:p>
        </p:txBody>
      </p:sp>
      <p:sp>
        <p:nvSpPr>
          <p:cNvPr id="20" name="Rounded Rectangle 19"/>
          <p:cNvSpPr/>
          <p:nvPr/>
        </p:nvSpPr>
        <p:spPr>
          <a:xfrm>
            <a:off x="6196431" y="3154680"/>
            <a:ext cx="2286000" cy="54864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96431" y="3273552"/>
            <a:ext cx="2286000" cy="365760"/>
          </a:xfrm>
          <a:prstGeom prst="rect">
            <a:avLst/>
          </a:prstGeom>
          <a:noFill/>
        </p:spPr>
        <p:txBody>
          <a:bodyPr wrap="square">
            <a:spAutoFit/>
          </a:bodyPr>
          <a:lstStyle/>
          <a:p>
            <a:pPr algn="ctr"/>
            <a:r>
              <a:rPr sz="1300" b="1">
                <a:solidFill>
                  <a:srgbClr val="F59E0B"/>
                </a:solidFill>
                <a:latin typeface="Calibri"/>
              </a:rPr>
              <a:t>RunCrawler</a:t>
            </a:r>
          </a:p>
        </p:txBody>
      </p:sp>
      <p:sp>
        <p:nvSpPr>
          <p:cNvPr id="22" name="TextBox 21"/>
          <p:cNvSpPr txBox="1"/>
          <p:nvPr/>
        </p:nvSpPr>
        <p:spPr>
          <a:xfrm>
            <a:off x="8482431" y="3273552"/>
            <a:ext cx="201168" cy="365760"/>
          </a:xfrm>
          <a:prstGeom prst="rect">
            <a:avLst/>
          </a:prstGeom>
          <a:noFill/>
        </p:spPr>
        <p:txBody>
          <a:bodyPr wrap="square">
            <a:spAutoFit/>
          </a:bodyPr>
          <a:lstStyle/>
          <a:p>
            <a:pPr algn="ctr"/>
            <a:r>
              <a:rPr sz="1800" b="1">
                <a:solidFill>
                  <a:srgbClr val="94A3B8"/>
                </a:solidFill>
                <a:latin typeface="Calibri"/>
              </a:rPr>
              <a:t>→</a:t>
            </a:r>
          </a:p>
        </p:txBody>
      </p:sp>
      <p:sp>
        <p:nvSpPr>
          <p:cNvPr id="23" name="Rounded Rectangle 22"/>
          <p:cNvSpPr/>
          <p:nvPr/>
        </p:nvSpPr>
        <p:spPr>
          <a:xfrm>
            <a:off x="8683599" y="3154680"/>
            <a:ext cx="2286000" cy="54864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3599" y="3273552"/>
            <a:ext cx="2286000" cy="365760"/>
          </a:xfrm>
          <a:prstGeom prst="rect">
            <a:avLst/>
          </a:prstGeom>
          <a:noFill/>
        </p:spPr>
        <p:txBody>
          <a:bodyPr wrap="square">
            <a:spAutoFit/>
          </a:bodyPr>
          <a:lstStyle/>
          <a:p>
            <a:pPr algn="ctr"/>
            <a:r>
              <a:rPr sz="1300" b="1">
                <a:solidFill>
                  <a:srgbClr val="10B981"/>
                </a:solidFill>
                <a:latin typeface="Calibri"/>
              </a:rPr>
              <a:t>EmitMetrics</a:t>
            </a:r>
          </a:p>
        </p:txBody>
      </p:sp>
      <p:sp>
        <p:nvSpPr>
          <p:cNvPr id="25" name="TextBox 24"/>
          <p:cNvSpPr txBox="1"/>
          <p:nvPr/>
        </p:nvSpPr>
        <p:spPr>
          <a:xfrm>
            <a:off x="640080" y="3931920"/>
            <a:ext cx="10972800" cy="2468880"/>
          </a:xfrm>
          <a:prstGeom prst="rect">
            <a:avLst/>
          </a:prstGeom>
          <a:noFill/>
        </p:spPr>
        <p:txBody>
          <a:bodyPr wrap="square">
            <a:spAutoFit/>
          </a:bodyPr>
          <a:lstStyle/>
          <a:p>
            <a:pPr algn="l">
              <a:spcAft>
                <a:spcPts val="400"/>
              </a:spcAft>
            </a:pPr>
            <a:r>
              <a:rPr sz="1300" dirty="0">
                <a:solidFill>
                  <a:srgbClr val="E2E8F0"/>
                </a:solidFill>
                <a:latin typeface="Calibri"/>
              </a:rPr>
              <a:t>•  </a:t>
            </a:r>
            <a:r>
              <a:rPr sz="1300" dirty="0" err="1">
                <a:solidFill>
                  <a:srgbClr val="E2E8F0"/>
                </a:solidFill>
                <a:latin typeface="Calibri"/>
              </a:rPr>
              <a:t>Vizualizare</a:t>
            </a:r>
            <a:r>
              <a:rPr sz="1300" dirty="0">
                <a:solidFill>
                  <a:srgbClr val="E2E8F0"/>
                </a:solidFill>
                <a:latin typeface="Calibri"/>
              </a:rPr>
              <a:t> </a:t>
            </a:r>
            <a:r>
              <a:rPr sz="1300" dirty="0" err="1">
                <a:solidFill>
                  <a:srgbClr val="E2E8F0"/>
                </a:solidFill>
                <a:latin typeface="Calibri"/>
              </a:rPr>
              <a:t>grafica</a:t>
            </a:r>
            <a:r>
              <a:rPr sz="1300" dirty="0">
                <a:solidFill>
                  <a:srgbClr val="E2E8F0"/>
                </a:solidFill>
                <a:latin typeface="Calibri"/>
              </a:rPr>
              <a:t> live a </a:t>
            </a:r>
            <a:r>
              <a:rPr sz="1300" dirty="0" err="1">
                <a:solidFill>
                  <a:srgbClr val="E2E8F0"/>
                </a:solidFill>
                <a:latin typeface="Calibri"/>
              </a:rPr>
              <a:t>executiei</a:t>
            </a:r>
            <a:r>
              <a:rPr sz="1300" dirty="0">
                <a:solidFill>
                  <a:srgbClr val="E2E8F0"/>
                </a:solidFill>
                <a:latin typeface="Calibri"/>
              </a:rPr>
              <a:t> — </a:t>
            </a:r>
            <a:r>
              <a:rPr sz="1300" dirty="0" err="1">
                <a:solidFill>
                  <a:srgbClr val="E2E8F0"/>
                </a:solidFill>
                <a:latin typeface="Calibri"/>
              </a:rPr>
              <a:t>vezi</a:t>
            </a:r>
            <a:r>
              <a:rPr sz="1300" dirty="0">
                <a:solidFill>
                  <a:srgbClr val="E2E8F0"/>
                </a:solidFill>
                <a:latin typeface="Calibri"/>
              </a:rPr>
              <a:t> instant </a:t>
            </a:r>
            <a:r>
              <a:rPr sz="1300" dirty="0" err="1">
                <a:solidFill>
                  <a:srgbClr val="E2E8F0"/>
                </a:solidFill>
                <a:latin typeface="Calibri"/>
              </a:rPr>
              <a:t>ce</a:t>
            </a:r>
            <a:r>
              <a:rPr sz="1300" dirty="0">
                <a:solidFill>
                  <a:srgbClr val="E2E8F0"/>
                </a:solidFill>
                <a:latin typeface="Calibri"/>
              </a:rPr>
              <a:t> pas a </a:t>
            </a:r>
            <a:r>
              <a:rPr sz="1300" dirty="0" err="1">
                <a:solidFill>
                  <a:srgbClr val="E2E8F0"/>
                </a:solidFill>
                <a:latin typeface="Calibri"/>
              </a:rPr>
              <a:t>esuat</a:t>
            </a:r>
            <a:endParaRPr sz="1300" dirty="0">
              <a:solidFill>
                <a:srgbClr val="E2E8F0"/>
              </a:solidFill>
              <a:latin typeface="Calibri"/>
            </a:endParaRPr>
          </a:p>
          <a:p>
            <a:pPr algn="l">
              <a:spcAft>
                <a:spcPts val="400"/>
              </a:spcAft>
            </a:pPr>
            <a:r>
              <a:rPr sz="1300" dirty="0">
                <a:solidFill>
                  <a:srgbClr val="E2E8F0"/>
                </a:solidFill>
                <a:latin typeface="Calibri"/>
              </a:rPr>
              <a:t>•  Retry automat cu backoff exponential — </a:t>
            </a:r>
            <a:r>
              <a:rPr sz="1300" dirty="0" err="1">
                <a:solidFill>
                  <a:srgbClr val="E2E8F0"/>
                </a:solidFill>
                <a:latin typeface="Calibri"/>
              </a:rPr>
              <a:t>fara</a:t>
            </a:r>
            <a:r>
              <a:rPr sz="1300" dirty="0">
                <a:solidFill>
                  <a:srgbClr val="E2E8F0"/>
                </a:solidFill>
                <a:latin typeface="Calibri"/>
              </a:rPr>
              <a:t> cod custom</a:t>
            </a:r>
          </a:p>
          <a:p>
            <a:pPr algn="l">
              <a:spcAft>
                <a:spcPts val="400"/>
              </a:spcAft>
            </a:pPr>
            <a:r>
              <a:rPr sz="1300" dirty="0">
                <a:solidFill>
                  <a:srgbClr val="E2E8F0"/>
                </a:solidFill>
                <a:latin typeface="Calibri"/>
              </a:rPr>
              <a:t>•  Catch / Throw </a:t>
            </a:r>
            <a:r>
              <a:rPr sz="1300" dirty="0" err="1">
                <a:solidFill>
                  <a:srgbClr val="E2E8F0"/>
                </a:solidFill>
                <a:latin typeface="Calibri"/>
              </a:rPr>
              <a:t>declarativ</a:t>
            </a:r>
            <a:r>
              <a:rPr sz="1300" dirty="0">
                <a:solidFill>
                  <a:srgbClr val="E2E8F0"/>
                </a:solidFill>
                <a:latin typeface="Calibri"/>
              </a:rPr>
              <a:t> </a:t>
            </a:r>
            <a:r>
              <a:rPr sz="1300" dirty="0" err="1">
                <a:solidFill>
                  <a:srgbClr val="E2E8F0"/>
                </a:solidFill>
                <a:latin typeface="Calibri"/>
              </a:rPr>
              <a:t>pentru</a:t>
            </a:r>
            <a:r>
              <a:rPr sz="1300" dirty="0">
                <a:solidFill>
                  <a:srgbClr val="E2E8F0"/>
                </a:solidFill>
                <a:latin typeface="Calibri"/>
              </a:rPr>
              <a:t> </a:t>
            </a:r>
            <a:r>
              <a:rPr sz="1300" dirty="0" err="1">
                <a:solidFill>
                  <a:srgbClr val="E2E8F0"/>
                </a:solidFill>
                <a:latin typeface="Calibri"/>
              </a:rPr>
              <a:t>gestionarea</a:t>
            </a:r>
            <a:r>
              <a:rPr sz="1300" dirty="0">
                <a:solidFill>
                  <a:srgbClr val="E2E8F0"/>
                </a:solidFill>
                <a:latin typeface="Calibri"/>
              </a:rPr>
              <a:t> </a:t>
            </a:r>
            <a:r>
              <a:rPr sz="1300" dirty="0" err="1">
                <a:solidFill>
                  <a:srgbClr val="E2E8F0"/>
                </a:solidFill>
                <a:latin typeface="Calibri"/>
              </a:rPr>
              <a:t>erorilor</a:t>
            </a:r>
            <a:endParaRPr sz="1300" dirty="0">
              <a:solidFill>
                <a:srgbClr val="E2E8F0"/>
              </a:solidFill>
              <a:latin typeface="Calibri"/>
            </a:endParaRPr>
          </a:p>
          <a:p>
            <a:pPr algn="l">
              <a:spcAft>
                <a:spcPts val="400"/>
              </a:spcAft>
            </a:pPr>
            <a:r>
              <a:rPr sz="1300" dirty="0">
                <a:solidFill>
                  <a:srgbClr val="E2E8F0"/>
                </a:solidFill>
                <a:latin typeface="Calibri"/>
              </a:rPr>
              <a:t>•  Audit trail </a:t>
            </a:r>
            <a:r>
              <a:rPr sz="1300" dirty="0" err="1">
                <a:solidFill>
                  <a:srgbClr val="E2E8F0"/>
                </a:solidFill>
                <a:latin typeface="Calibri"/>
              </a:rPr>
              <a:t>complet</a:t>
            </a:r>
            <a:r>
              <a:rPr sz="1300" dirty="0">
                <a:solidFill>
                  <a:srgbClr val="E2E8F0"/>
                </a:solidFill>
                <a:latin typeface="Calibri"/>
              </a:rPr>
              <a:t> — log per </a:t>
            </a:r>
            <a:r>
              <a:rPr sz="1300" dirty="0" err="1">
                <a:solidFill>
                  <a:srgbClr val="E2E8F0"/>
                </a:solidFill>
                <a:latin typeface="Calibri"/>
              </a:rPr>
              <a:t>executie</a:t>
            </a:r>
            <a:r>
              <a:rPr sz="1300" dirty="0">
                <a:solidFill>
                  <a:srgbClr val="E2E8F0"/>
                </a:solidFill>
                <a:latin typeface="Calibri"/>
              </a:rPr>
              <a:t> </a:t>
            </a:r>
            <a:r>
              <a:rPr sz="1300" dirty="0" err="1">
                <a:solidFill>
                  <a:srgbClr val="E2E8F0"/>
                </a:solidFill>
                <a:latin typeface="Calibri"/>
              </a:rPr>
              <a:t>pentru</a:t>
            </a:r>
            <a:r>
              <a:rPr sz="1300" dirty="0">
                <a:solidFill>
                  <a:srgbClr val="E2E8F0"/>
                </a:solidFill>
                <a:latin typeface="Calibri"/>
              </a:rPr>
              <a:t> debugging</a:t>
            </a:r>
          </a:p>
          <a:p>
            <a:pPr algn="l">
              <a:spcAft>
                <a:spcPts val="400"/>
              </a:spcAft>
            </a:pPr>
            <a:r>
              <a:rPr sz="1300" dirty="0">
                <a:solidFill>
                  <a:srgbClr val="E2E8F0"/>
                </a:solidFill>
                <a:latin typeface="Calibri"/>
              </a:rPr>
              <a:t>•  Cost: ~$0.0002 per </a:t>
            </a:r>
            <a:r>
              <a:rPr sz="1300" dirty="0" err="1">
                <a:solidFill>
                  <a:srgbClr val="E2E8F0"/>
                </a:solidFill>
                <a:latin typeface="Calibri"/>
              </a:rPr>
              <a:t>executie</a:t>
            </a:r>
            <a:r>
              <a:rPr sz="1300" dirty="0">
                <a:solidFill>
                  <a:srgbClr val="E2E8F0"/>
                </a:solidFill>
                <a:latin typeface="Calibri"/>
              </a:rPr>
              <a:t> ⇒ </a:t>
            </a:r>
            <a:r>
              <a:rPr sz="1300" dirty="0" err="1">
                <a:solidFill>
                  <a:srgbClr val="E2E8F0"/>
                </a:solidFill>
                <a:latin typeface="Calibri"/>
              </a:rPr>
              <a:t>practic</a:t>
            </a:r>
            <a:r>
              <a:rPr sz="1300" dirty="0">
                <a:solidFill>
                  <a:srgbClr val="E2E8F0"/>
                </a:solidFill>
                <a:latin typeface="Calibri"/>
              </a:rPr>
              <a:t> </a:t>
            </a:r>
            <a:r>
              <a:rPr sz="1300" dirty="0" err="1">
                <a:solidFill>
                  <a:srgbClr val="E2E8F0"/>
                </a:solidFill>
                <a:latin typeface="Calibri"/>
              </a:rPr>
              <a:t>gratuit</a:t>
            </a:r>
            <a:endParaRPr sz="1300" dirty="0">
              <a:solidFill>
                <a:srgbClr val="E2E8F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Amazon Athena — SQL serverless</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Query-uri SQL pe S3 Parquet · pay-per-query · fara baza de date</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Athena este Presto-as-a-Service de la AWS — un motor de query distribuit care intelege SQL ANSI dar citeste datele direct din fisiere Parquet/CSV/JSON din S3. Costul $5/TB scanat face partitionarea direct un instrument de optimizare a costurilor.</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3B82F6"/>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Ruleaza cele 10 query-uri pre-definite ale proiectului direct pe Parquet din S3, fara baza de date in mijloc. Query-urile (trend temperatura, distributie precipitatii, top zile extreme, anomalii) se executa in 1-3 secunde si costa ~$0.00003 fiecare.</a:t>
            </a:r>
          </a:p>
        </p:txBody>
      </p:sp>
      <p:sp>
        <p:nvSpPr>
          <p:cNvPr id="14" name="TextBox 13"/>
          <p:cNvSpPr txBox="1"/>
          <p:nvPr/>
        </p:nvSpPr>
        <p:spPr>
          <a:xfrm>
            <a:off x="640080" y="3154680"/>
            <a:ext cx="10972800" cy="1554480"/>
          </a:xfrm>
          <a:prstGeom prst="rect">
            <a:avLst/>
          </a:prstGeom>
          <a:noFill/>
        </p:spPr>
        <p:txBody>
          <a:bodyPr wrap="square">
            <a:spAutoFit/>
          </a:bodyPr>
          <a:lstStyle/>
          <a:p>
            <a:pPr algn="l">
              <a:spcAft>
                <a:spcPts val="400"/>
              </a:spcAft>
            </a:pPr>
            <a:r>
              <a:rPr sz="1300">
                <a:solidFill>
                  <a:srgbClr val="E2E8F0"/>
                </a:solidFill>
                <a:latin typeface="Calibri"/>
              </a:rPr>
              <a:t>•  weatherlens_db.weather_hourly: 14 280 randuri orare (tabela principala)</a:t>
            </a:r>
          </a:p>
          <a:p>
            <a:pPr algn="l">
              <a:spcAft>
                <a:spcPts val="400"/>
              </a:spcAft>
            </a:pPr>
            <a:r>
              <a:rPr sz="1300">
                <a:solidFill>
                  <a:srgbClr val="E2E8F0"/>
                </a:solidFill>
                <a:latin typeface="Calibri"/>
              </a:rPr>
              <a:t>•  weatherlens_db.daily_summary: 595 rezumate zilnice (tabela aggregate)</a:t>
            </a:r>
          </a:p>
          <a:p>
            <a:pPr algn="l">
              <a:spcAft>
                <a:spcPts val="400"/>
              </a:spcAft>
            </a:pPr>
            <a:r>
              <a:rPr sz="1300">
                <a:solidFill>
                  <a:srgbClr val="E2E8F0"/>
                </a:solidFill>
                <a:latin typeface="Calibri"/>
              </a:rPr>
              <a:t>•  Partitionare city/year/month — Athena scaneaza doar partitiile cerute</a:t>
            </a:r>
          </a:p>
          <a:p>
            <a:pPr algn="l">
              <a:spcAft>
                <a:spcPts val="400"/>
              </a:spcAft>
            </a:pPr>
            <a:r>
              <a:rPr sz="1300">
                <a:solidFill>
                  <a:srgbClr val="E2E8F0"/>
                </a:solidFill>
                <a:latin typeface="Calibri"/>
              </a:rPr>
              <a:t>•  10 query-uri salvate ca Named Queries (reutilizabile)</a:t>
            </a:r>
          </a:p>
        </p:txBody>
      </p:sp>
      <p:sp>
        <p:nvSpPr>
          <p:cNvPr id="15" name="Rounded Rectangle 14"/>
          <p:cNvSpPr/>
          <p:nvPr/>
        </p:nvSpPr>
        <p:spPr>
          <a:xfrm>
            <a:off x="640080" y="4754880"/>
            <a:ext cx="10972800" cy="1691640"/>
          </a:xfrm>
          <a:prstGeom prst="roundRect">
            <a:avLst>
              <a:gd name="adj" fmla="val 6000"/>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4864608"/>
            <a:ext cx="10607040" cy="1463040"/>
          </a:xfrm>
          <a:prstGeom prst="rect">
            <a:avLst/>
          </a:prstGeom>
          <a:noFill/>
        </p:spPr>
        <p:txBody>
          <a:bodyPr wrap="square">
            <a:spAutoFit/>
          </a:bodyPr>
          <a:lstStyle/>
          <a:p>
            <a:r>
              <a:rPr sz="1100">
                <a:solidFill>
                  <a:srgbClr val="E2E8F0"/>
                </a:solidFill>
                <a:latin typeface="Consolas"/>
              </a:rPr>
              <a:t>SELECT date, city,</a:t>
            </a:r>
          </a:p>
          <a:p>
            <a:r>
              <a:rPr sz="1100">
                <a:solidFill>
                  <a:srgbClr val="E2E8F0"/>
                </a:solidFill>
                <a:latin typeface="Consolas"/>
              </a:rPr>
              <a:t>       ROUND(avg_temp, 1) AS avg_temperature,</a:t>
            </a:r>
          </a:p>
          <a:p>
            <a:r>
              <a:rPr sz="1100">
                <a:solidFill>
                  <a:srgbClr val="E2E8F0"/>
                </a:solidFill>
                <a:latin typeface="Consolas"/>
              </a:rPr>
              <a:t>       ROUND(total_precipitation, 1) AS rain_mm</a:t>
            </a:r>
          </a:p>
          <a:p>
            <a:r>
              <a:rPr sz="1100">
                <a:solidFill>
                  <a:srgbClr val="E2E8F0"/>
                </a:solidFill>
                <a:latin typeface="Consolas"/>
              </a:rPr>
              <a:t>FROM weatherlens_db.daily_summary</a:t>
            </a:r>
          </a:p>
          <a:p>
            <a:r>
              <a:rPr sz="1100">
                <a:solidFill>
                  <a:srgbClr val="E2E8F0"/>
                </a:solidFill>
                <a:latin typeface="Consolas"/>
              </a:rPr>
              <a:t>WHERE date &gt;= CURRENT_DATE - INTERVAL '90' DAY</a:t>
            </a:r>
          </a:p>
          <a:p>
            <a:r>
              <a:rPr sz="1100">
                <a:solidFill>
                  <a:srgbClr val="E2E8F0"/>
                </a:solidFill>
                <a:latin typeface="Consolas"/>
              </a:rPr>
              <a:t>ORDER BY city, date;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Amazon QuickSight — Dashboard BI</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Vizualizari interactive · filtre · refresh automat din SPICE</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QuickSight este alternativa AWS la Tableau / PowerBI — un BI tool web cu conexiune nativa la Athena, RDS sau direct la S3. Cache-ul SPICE precalculeaza rezultatele asa incat utilizatorul nu asteapta Athena la fiecare interactiune cu filtrele.</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EF4444"/>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Dashboard-ul BI nativ AWS al proiectului — preia date din Athena, afiseaza 7 grafice interactive (line, bar, donut, polar, heatmap, KPI cards), permite filtre dinamice (oras, perioada, sezon) si refresh automat zilnic dupa ce pipeline-ul ETL a terminat.</a:t>
            </a:r>
          </a:p>
        </p:txBody>
      </p:sp>
      <p:sp>
        <p:nvSpPr>
          <p:cNvPr id="14" name="Rounded Rectangle 13"/>
          <p:cNvSpPr/>
          <p:nvPr/>
        </p:nvSpPr>
        <p:spPr>
          <a:xfrm>
            <a:off x="457200" y="315468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273552"/>
            <a:ext cx="2423160" cy="365760"/>
          </a:xfrm>
          <a:prstGeom prst="rect">
            <a:avLst/>
          </a:prstGeom>
          <a:noFill/>
        </p:spPr>
        <p:txBody>
          <a:bodyPr wrap="square">
            <a:spAutoFit/>
          </a:bodyPr>
          <a:lstStyle/>
          <a:p>
            <a:pPr algn="l"/>
            <a:r>
              <a:rPr sz="1300" b="1">
                <a:solidFill>
                  <a:srgbClr val="EF4444"/>
                </a:solidFill>
                <a:latin typeface="Calibri"/>
              </a:rPr>
              <a:t>Line chart</a:t>
            </a:r>
          </a:p>
        </p:txBody>
      </p:sp>
      <p:sp>
        <p:nvSpPr>
          <p:cNvPr id="16" name="TextBox 15"/>
          <p:cNvSpPr txBox="1"/>
          <p:nvPr/>
        </p:nvSpPr>
        <p:spPr>
          <a:xfrm>
            <a:off x="594360" y="3611880"/>
            <a:ext cx="2423160" cy="685800"/>
          </a:xfrm>
          <a:prstGeom prst="rect">
            <a:avLst/>
          </a:prstGeom>
          <a:noFill/>
        </p:spPr>
        <p:txBody>
          <a:bodyPr wrap="square">
            <a:spAutoFit/>
          </a:bodyPr>
          <a:lstStyle/>
          <a:p>
            <a:pPr algn="l"/>
            <a:r>
              <a:rPr sz="1100" b="0">
                <a:solidFill>
                  <a:srgbClr val="E2E8F0"/>
                </a:solidFill>
                <a:latin typeface="Calibri"/>
              </a:rPr>
              <a:t>Evolutie temperatura zilnica per oras</a:t>
            </a:r>
          </a:p>
        </p:txBody>
      </p:sp>
      <p:sp>
        <p:nvSpPr>
          <p:cNvPr id="17" name="Rounded Rectangle 16"/>
          <p:cNvSpPr/>
          <p:nvPr/>
        </p:nvSpPr>
        <p:spPr>
          <a:xfrm>
            <a:off x="3291840" y="315468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29000" y="3273552"/>
            <a:ext cx="2423160" cy="365760"/>
          </a:xfrm>
          <a:prstGeom prst="rect">
            <a:avLst/>
          </a:prstGeom>
          <a:noFill/>
        </p:spPr>
        <p:txBody>
          <a:bodyPr wrap="square">
            <a:spAutoFit/>
          </a:bodyPr>
          <a:lstStyle/>
          <a:p>
            <a:pPr algn="l"/>
            <a:r>
              <a:rPr sz="1300" b="1">
                <a:solidFill>
                  <a:srgbClr val="EF4444"/>
                </a:solidFill>
                <a:latin typeface="Calibri"/>
              </a:rPr>
              <a:t>Bar chart</a:t>
            </a:r>
          </a:p>
        </p:txBody>
      </p:sp>
      <p:sp>
        <p:nvSpPr>
          <p:cNvPr id="19" name="TextBox 18"/>
          <p:cNvSpPr txBox="1"/>
          <p:nvPr/>
        </p:nvSpPr>
        <p:spPr>
          <a:xfrm>
            <a:off x="3429000" y="3611880"/>
            <a:ext cx="2423160" cy="685800"/>
          </a:xfrm>
          <a:prstGeom prst="rect">
            <a:avLst/>
          </a:prstGeom>
          <a:noFill/>
        </p:spPr>
        <p:txBody>
          <a:bodyPr wrap="square">
            <a:spAutoFit/>
          </a:bodyPr>
          <a:lstStyle/>
          <a:p>
            <a:pPr algn="l"/>
            <a:r>
              <a:rPr sz="1100" b="0">
                <a:solidFill>
                  <a:srgbClr val="E2E8F0"/>
                </a:solidFill>
                <a:latin typeface="Calibri"/>
              </a:rPr>
              <a:t>Precipitatii lunare sortate descendent</a:t>
            </a:r>
          </a:p>
        </p:txBody>
      </p:sp>
      <p:sp>
        <p:nvSpPr>
          <p:cNvPr id="20" name="Rounded Rectangle 19"/>
          <p:cNvSpPr/>
          <p:nvPr/>
        </p:nvSpPr>
        <p:spPr>
          <a:xfrm>
            <a:off x="6126480" y="315468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3640" y="3273552"/>
            <a:ext cx="2423160" cy="365760"/>
          </a:xfrm>
          <a:prstGeom prst="rect">
            <a:avLst/>
          </a:prstGeom>
          <a:noFill/>
        </p:spPr>
        <p:txBody>
          <a:bodyPr wrap="square">
            <a:spAutoFit/>
          </a:bodyPr>
          <a:lstStyle/>
          <a:p>
            <a:pPr algn="l"/>
            <a:r>
              <a:rPr sz="1300" b="1">
                <a:solidFill>
                  <a:srgbClr val="EF4444"/>
                </a:solidFill>
                <a:latin typeface="Calibri"/>
              </a:rPr>
              <a:t>Heat map</a:t>
            </a:r>
          </a:p>
        </p:txBody>
      </p:sp>
      <p:sp>
        <p:nvSpPr>
          <p:cNvPr id="22" name="TextBox 21"/>
          <p:cNvSpPr txBox="1"/>
          <p:nvPr/>
        </p:nvSpPr>
        <p:spPr>
          <a:xfrm>
            <a:off x="6263640" y="3611880"/>
            <a:ext cx="2423160" cy="685800"/>
          </a:xfrm>
          <a:prstGeom prst="rect">
            <a:avLst/>
          </a:prstGeom>
          <a:noFill/>
        </p:spPr>
        <p:txBody>
          <a:bodyPr wrap="square">
            <a:spAutoFit/>
          </a:bodyPr>
          <a:lstStyle/>
          <a:p>
            <a:pPr algn="l"/>
            <a:r>
              <a:rPr sz="1100" b="0">
                <a:solidFill>
                  <a:srgbClr val="E2E8F0"/>
                </a:solidFill>
                <a:latin typeface="Calibri"/>
              </a:rPr>
              <a:t>Calendar temperaturi</a:t>
            </a:r>
          </a:p>
        </p:txBody>
      </p:sp>
      <p:sp>
        <p:nvSpPr>
          <p:cNvPr id="23" name="Rounded Rectangle 22"/>
          <p:cNvSpPr/>
          <p:nvPr/>
        </p:nvSpPr>
        <p:spPr>
          <a:xfrm>
            <a:off x="8961120" y="315468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98280" y="3273552"/>
            <a:ext cx="2423160" cy="365760"/>
          </a:xfrm>
          <a:prstGeom prst="rect">
            <a:avLst/>
          </a:prstGeom>
          <a:noFill/>
        </p:spPr>
        <p:txBody>
          <a:bodyPr wrap="square">
            <a:spAutoFit/>
          </a:bodyPr>
          <a:lstStyle/>
          <a:p>
            <a:pPr algn="l"/>
            <a:r>
              <a:rPr sz="1300" b="1">
                <a:solidFill>
                  <a:srgbClr val="EF4444"/>
                </a:solidFill>
                <a:latin typeface="Calibri"/>
              </a:rPr>
              <a:t>Donut chart</a:t>
            </a:r>
          </a:p>
        </p:txBody>
      </p:sp>
      <p:sp>
        <p:nvSpPr>
          <p:cNvPr id="25" name="TextBox 24"/>
          <p:cNvSpPr txBox="1"/>
          <p:nvPr/>
        </p:nvSpPr>
        <p:spPr>
          <a:xfrm>
            <a:off x="9098280" y="3611880"/>
            <a:ext cx="2423160" cy="685800"/>
          </a:xfrm>
          <a:prstGeom prst="rect">
            <a:avLst/>
          </a:prstGeom>
          <a:noFill/>
        </p:spPr>
        <p:txBody>
          <a:bodyPr wrap="square">
            <a:spAutoFit/>
          </a:bodyPr>
          <a:lstStyle/>
          <a:p>
            <a:pPr algn="l"/>
            <a:r>
              <a:rPr sz="1100" b="0">
                <a:solidFill>
                  <a:srgbClr val="E2E8F0"/>
                </a:solidFill>
                <a:latin typeface="Calibri"/>
              </a:rPr>
              <a:t>Distributie tipuri de vreme</a:t>
            </a:r>
          </a:p>
        </p:txBody>
      </p:sp>
      <p:sp>
        <p:nvSpPr>
          <p:cNvPr id="26" name="Rounded Rectangle 25"/>
          <p:cNvSpPr/>
          <p:nvPr/>
        </p:nvSpPr>
        <p:spPr>
          <a:xfrm>
            <a:off x="457200" y="448056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599432"/>
            <a:ext cx="2423160" cy="365760"/>
          </a:xfrm>
          <a:prstGeom prst="rect">
            <a:avLst/>
          </a:prstGeom>
          <a:noFill/>
        </p:spPr>
        <p:txBody>
          <a:bodyPr wrap="square">
            <a:spAutoFit/>
          </a:bodyPr>
          <a:lstStyle/>
          <a:p>
            <a:pPr algn="l"/>
            <a:r>
              <a:rPr sz="1300" b="1">
                <a:solidFill>
                  <a:srgbClr val="EF4444"/>
                </a:solidFill>
                <a:latin typeface="Calibri"/>
              </a:rPr>
              <a:t>Polar chart</a:t>
            </a:r>
          </a:p>
        </p:txBody>
      </p:sp>
      <p:sp>
        <p:nvSpPr>
          <p:cNvPr id="28" name="TextBox 27"/>
          <p:cNvSpPr txBox="1"/>
          <p:nvPr/>
        </p:nvSpPr>
        <p:spPr>
          <a:xfrm>
            <a:off x="594360" y="4937760"/>
            <a:ext cx="2423160" cy="685800"/>
          </a:xfrm>
          <a:prstGeom prst="rect">
            <a:avLst/>
          </a:prstGeom>
          <a:noFill/>
        </p:spPr>
        <p:txBody>
          <a:bodyPr wrap="square">
            <a:spAutoFit/>
          </a:bodyPr>
          <a:lstStyle/>
          <a:p>
            <a:pPr algn="l"/>
            <a:r>
              <a:rPr sz="1100" b="0">
                <a:solidFill>
                  <a:srgbClr val="E2E8F0"/>
                </a:solidFill>
                <a:latin typeface="Calibri"/>
              </a:rPr>
              <a:t>Wind rose pe categorii vant</a:t>
            </a:r>
          </a:p>
        </p:txBody>
      </p:sp>
      <p:sp>
        <p:nvSpPr>
          <p:cNvPr id="29" name="Rounded Rectangle 28"/>
          <p:cNvSpPr/>
          <p:nvPr/>
        </p:nvSpPr>
        <p:spPr>
          <a:xfrm>
            <a:off x="3291840" y="448056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29000" y="4599432"/>
            <a:ext cx="2423160" cy="365760"/>
          </a:xfrm>
          <a:prstGeom prst="rect">
            <a:avLst/>
          </a:prstGeom>
          <a:noFill/>
        </p:spPr>
        <p:txBody>
          <a:bodyPr wrap="square">
            <a:spAutoFit/>
          </a:bodyPr>
          <a:lstStyle/>
          <a:p>
            <a:pPr algn="l"/>
            <a:r>
              <a:rPr sz="1300" b="1">
                <a:solidFill>
                  <a:srgbClr val="EF4444"/>
                </a:solidFill>
                <a:latin typeface="Calibri"/>
              </a:rPr>
              <a:t>KPI cards</a:t>
            </a:r>
          </a:p>
        </p:txBody>
      </p:sp>
      <p:sp>
        <p:nvSpPr>
          <p:cNvPr id="31" name="TextBox 30"/>
          <p:cNvSpPr txBox="1"/>
          <p:nvPr/>
        </p:nvSpPr>
        <p:spPr>
          <a:xfrm>
            <a:off x="3429000" y="4937760"/>
            <a:ext cx="2423160" cy="685800"/>
          </a:xfrm>
          <a:prstGeom prst="rect">
            <a:avLst/>
          </a:prstGeom>
          <a:noFill/>
        </p:spPr>
        <p:txBody>
          <a:bodyPr wrap="square">
            <a:spAutoFit/>
          </a:bodyPr>
          <a:lstStyle/>
          <a:p>
            <a:pPr algn="l"/>
            <a:r>
              <a:rPr sz="1100" b="0">
                <a:solidFill>
                  <a:srgbClr val="E2E8F0"/>
                </a:solidFill>
                <a:latin typeface="Calibri"/>
              </a:rPr>
              <a:t>Temp · Ploaie · Vant · Extreme</a:t>
            </a:r>
          </a:p>
        </p:txBody>
      </p:sp>
      <p:sp>
        <p:nvSpPr>
          <p:cNvPr id="32" name="Rounded Rectangle 31"/>
          <p:cNvSpPr/>
          <p:nvPr/>
        </p:nvSpPr>
        <p:spPr>
          <a:xfrm>
            <a:off x="6126480" y="4480560"/>
            <a:ext cx="2697480" cy="1188720"/>
          </a:xfrm>
          <a:prstGeom prst="roundRect">
            <a:avLst>
              <a:gd name="adj" fmla="val 6000"/>
            </a:avLst>
          </a:prstGeom>
          <a:solidFill>
            <a:srgbClr val="1E293B"/>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63640" y="4599432"/>
            <a:ext cx="2423160" cy="365760"/>
          </a:xfrm>
          <a:prstGeom prst="rect">
            <a:avLst/>
          </a:prstGeom>
          <a:noFill/>
        </p:spPr>
        <p:txBody>
          <a:bodyPr wrap="square">
            <a:spAutoFit/>
          </a:bodyPr>
          <a:lstStyle/>
          <a:p>
            <a:pPr algn="l"/>
            <a:r>
              <a:rPr sz="1300" b="1">
                <a:solidFill>
                  <a:srgbClr val="EF4444"/>
                </a:solidFill>
                <a:latin typeface="Calibri"/>
              </a:rPr>
              <a:t>Anomaly area</a:t>
            </a:r>
          </a:p>
        </p:txBody>
      </p:sp>
      <p:sp>
        <p:nvSpPr>
          <p:cNvPr id="34" name="TextBox 33"/>
          <p:cNvSpPr txBox="1"/>
          <p:nvPr/>
        </p:nvSpPr>
        <p:spPr>
          <a:xfrm>
            <a:off x="6263640" y="4937760"/>
            <a:ext cx="2423160" cy="685800"/>
          </a:xfrm>
          <a:prstGeom prst="rect">
            <a:avLst/>
          </a:prstGeom>
          <a:noFill/>
        </p:spPr>
        <p:txBody>
          <a:bodyPr wrap="square">
            <a:spAutoFit/>
          </a:bodyPr>
          <a:lstStyle/>
          <a:p>
            <a:pPr algn="l"/>
            <a:r>
              <a:rPr sz="1100" b="0">
                <a:solidFill>
                  <a:srgbClr val="E2E8F0"/>
                </a:solidFill>
                <a:latin typeface="Calibri"/>
              </a:rPr>
              <a:t>Temperatura vs medie istorica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Amazon CloudWatch — Monitoring</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Logs centralizate · Metrici custom · Alarme</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CloudWatch este sistemul AWS de observabilitate — colecteaza orice log si metric din orice serviciu, cu interogare full-text si retentie configurabila. Alarms se leaga la SNS pentru notificari automate cand un metric depaseste pragul.</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F59E0B"/>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Centralizeaza toate log-urile si metricile pipeline-ului — fiecare Lambda, Glue Job si executie Step Functions trimit acolo. Alarme email cand pipeline-ul esueaza, plus metrici custom (PipelineSuccess, RecordsIngested, DurationSeconds).</a:t>
            </a:r>
          </a:p>
        </p:txBody>
      </p:sp>
      <p:sp>
        <p:nvSpPr>
          <p:cNvPr id="14" name="TextBox 13"/>
          <p:cNvSpPr txBox="1"/>
          <p:nvPr/>
        </p:nvSpPr>
        <p:spPr>
          <a:xfrm>
            <a:off x="640080" y="3154680"/>
            <a:ext cx="10972800" cy="2743200"/>
          </a:xfrm>
          <a:prstGeom prst="rect">
            <a:avLst/>
          </a:prstGeom>
          <a:noFill/>
        </p:spPr>
        <p:txBody>
          <a:bodyPr wrap="square">
            <a:spAutoFit/>
          </a:bodyPr>
          <a:lstStyle/>
          <a:p>
            <a:pPr algn="l">
              <a:spcAft>
                <a:spcPts val="600"/>
              </a:spcAft>
            </a:pPr>
            <a:r>
              <a:rPr sz="1300">
                <a:solidFill>
                  <a:srgbClr val="E2E8F0"/>
                </a:solidFill>
                <a:latin typeface="Calibri"/>
              </a:rPr>
              <a:t>•  Log Groups: /aws/lambda/weatherlens-* · /aws-glue/jobs/* · /aws/states/*</a:t>
            </a:r>
          </a:p>
          <a:p>
            <a:pPr algn="l">
              <a:spcAft>
                <a:spcPts val="600"/>
              </a:spcAft>
            </a:pPr>
            <a:r>
              <a:rPr sz="1300">
                <a:solidFill>
                  <a:srgbClr val="E2E8F0"/>
                </a:solidFill>
                <a:latin typeface="Calibri"/>
              </a:rPr>
              <a:t>•  Retention 30 zile · cautare full-text in CloudWatch Insights</a:t>
            </a:r>
          </a:p>
          <a:p>
            <a:pPr algn="l">
              <a:spcAft>
                <a:spcPts val="600"/>
              </a:spcAft>
            </a:pPr>
            <a:r>
              <a:rPr sz="1300">
                <a:solidFill>
                  <a:srgbClr val="E2E8F0"/>
                </a:solidFill>
                <a:latin typeface="Calibri"/>
              </a:rPr>
              <a:t>•  Custom metrics: PipelineSuccess, RecordsIngested, DurationSeconds, DataQualityScore</a:t>
            </a:r>
          </a:p>
          <a:p>
            <a:pPr algn="l">
              <a:spcAft>
                <a:spcPts val="600"/>
              </a:spcAft>
            </a:pPr>
            <a:r>
              <a:rPr sz="1300">
                <a:solidFill>
                  <a:srgbClr val="E2E8F0"/>
                </a:solidFill>
                <a:latin typeface="Calibri"/>
              </a:rPr>
              <a:t>•  Alarm: weatherlens-pipeline-failure → SNS email cand metric &gt; 0</a:t>
            </a:r>
          </a:p>
          <a:p>
            <a:pPr algn="l">
              <a:spcAft>
                <a:spcPts val="600"/>
              </a:spcAft>
            </a:pPr>
            <a:r>
              <a:rPr sz="1300">
                <a:solidFill>
                  <a:srgbClr val="E2E8F0"/>
                </a:solidFill>
                <a:latin typeface="Calibri"/>
              </a:rPr>
              <a:t>•  CloudWatch Dashboard operational: success rate, durata medie, erori 24h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AWS IAM — Securitate fine-grained</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Roluri least-privilege · zero credentials hardcoded</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IAM (Identity and Access Management) este sistemul central de control al accesului in AWS — defineste cine (roluri, useri) poate face ce (actions) pe care resurse. Principiul least-privilege izoleaza serviciile intre ele si reduce raza de impact a unei compromisiuni.</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10B981"/>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Defineste 3 roluri dedicate (pentru Glue, Lambda si Step Functions) cu policies fine-grained care permit doar operatiile minime necesare. Zero credentials hardcoded — toate apelurile folosesc role assumption automat.</a:t>
            </a:r>
          </a:p>
        </p:txBody>
      </p:sp>
      <p:sp>
        <p:nvSpPr>
          <p:cNvPr id="14" name="Rounded Rectangle 13"/>
          <p:cNvSpPr/>
          <p:nvPr/>
        </p:nvSpPr>
        <p:spPr>
          <a:xfrm>
            <a:off x="457200" y="3154680"/>
            <a:ext cx="11247120" cy="91440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273552"/>
            <a:ext cx="10881360" cy="411480"/>
          </a:xfrm>
          <a:prstGeom prst="rect">
            <a:avLst/>
          </a:prstGeom>
          <a:noFill/>
        </p:spPr>
        <p:txBody>
          <a:bodyPr wrap="square">
            <a:spAutoFit/>
          </a:bodyPr>
          <a:lstStyle/>
          <a:p>
            <a:pPr algn="l"/>
            <a:r>
              <a:rPr sz="1500" b="1">
                <a:solidFill>
                  <a:srgbClr val="10B981"/>
                </a:solidFill>
                <a:latin typeface="Calibri"/>
              </a:rPr>
              <a:t>weatherlens-glue-role</a:t>
            </a:r>
          </a:p>
        </p:txBody>
      </p:sp>
      <p:sp>
        <p:nvSpPr>
          <p:cNvPr id="16" name="TextBox 15"/>
          <p:cNvSpPr txBox="1"/>
          <p:nvPr/>
        </p:nvSpPr>
        <p:spPr>
          <a:xfrm>
            <a:off x="640080" y="3630168"/>
            <a:ext cx="10881360" cy="457200"/>
          </a:xfrm>
          <a:prstGeom prst="rect">
            <a:avLst/>
          </a:prstGeom>
          <a:noFill/>
        </p:spPr>
        <p:txBody>
          <a:bodyPr wrap="square">
            <a:spAutoFit/>
          </a:bodyPr>
          <a:lstStyle/>
          <a:p>
            <a:pPr algn="l"/>
            <a:r>
              <a:rPr sz="1200" b="0">
                <a:solidFill>
                  <a:srgbClr val="E2E8F0"/>
                </a:solidFill>
                <a:latin typeface="Calibri"/>
              </a:rPr>
              <a:t>Trust: glue.amazonaws.com · Permite: S3 read/write, CloudWatch logs</a:t>
            </a:r>
          </a:p>
        </p:txBody>
      </p:sp>
      <p:sp>
        <p:nvSpPr>
          <p:cNvPr id="17" name="Rounded Rectangle 16"/>
          <p:cNvSpPr/>
          <p:nvPr/>
        </p:nvSpPr>
        <p:spPr>
          <a:xfrm>
            <a:off x="457200" y="4160520"/>
            <a:ext cx="11247120" cy="91440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279392"/>
            <a:ext cx="10881360" cy="411480"/>
          </a:xfrm>
          <a:prstGeom prst="rect">
            <a:avLst/>
          </a:prstGeom>
          <a:noFill/>
        </p:spPr>
        <p:txBody>
          <a:bodyPr wrap="square">
            <a:spAutoFit/>
          </a:bodyPr>
          <a:lstStyle/>
          <a:p>
            <a:pPr algn="l"/>
            <a:r>
              <a:rPr sz="1500" b="1">
                <a:solidFill>
                  <a:srgbClr val="10B981"/>
                </a:solidFill>
                <a:latin typeface="Calibri"/>
              </a:rPr>
              <a:t>weatherlens-lambda-role</a:t>
            </a:r>
          </a:p>
        </p:txBody>
      </p:sp>
      <p:sp>
        <p:nvSpPr>
          <p:cNvPr id="19" name="TextBox 18"/>
          <p:cNvSpPr txBox="1"/>
          <p:nvPr/>
        </p:nvSpPr>
        <p:spPr>
          <a:xfrm>
            <a:off x="640080" y="4636008"/>
            <a:ext cx="10881360" cy="457200"/>
          </a:xfrm>
          <a:prstGeom prst="rect">
            <a:avLst/>
          </a:prstGeom>
          <a:noFill/>
        </p:spPr>
        <p:txBody>
          <a:bodyPr wrap="square">
            <a:spAutoFit/>
          </a:bodyPr>
          <a:lstStyle/>
          <a:p>
            <a:pPr algn="l"/>
            <a:r>
              <a:rPr sz="1200" b="0">
                <a:solidFill>
                  <a:srgbClr val="E2E8F0"/>
                </a:solidFill>
                <a:latin typeface="Calibri"/>
              </a:rPr>
              <a:t>Trust: lambda.amazonaws.com · Permite: S3, SFN invoke, Athena, CloudWatch</a:t>
            </a:r>
          </a:p>
        </p:txBody>
      </p:sp>
      <p:sp>
        <p:nvSpPr>
          <p:cNvPr id="20" name="Rounded Rectangle 19"/>
          <p:cNvSpPr/>
          <p:nvPr/>
        </p:nvSpPr>
        <p:spPr>
          <a:xfrm>
            <a:off x="457200" y="5166360"/>
            <a:ext cx="11247120" cy="91440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5285232"/>
            <a:ext cx="10881360" cy="411480"/>
          </a:xfrm>
          <a:prstGeom prst="rect">
            <a:avLst/>
          </a:prstGeom>
          <a:noFill/>
        </p:spPr>
        <p:txBody>
          <a:bodyPr wrap="square">
            <a:spAutoFit/>
          </a:bodyPr>
          <a:lstStyle/>
          <a:p>
            <a:pPr algn="l"/>
            <a:r>
              <a:rPr sz="1500" b="1">
                <a:solidFill>
                  <a:srgbClr val="10B981"/>
                </a:solidFill>
                <a:latin typeface="Calibri"/>
              </a:rPr>
              <a:t>weatherlens-sfn-role</a:t>
            </a:r>
          </a:p>
        </p:txBody>
      </p:sp>
      <p:sp>
        <p:nvSpPr>
          <p:cNvPr id="22" name="TextBox 21"/>
          <p:cNvSpPr txBox="1"/>
          <p:nvPr/>
        </p:nvSpPr>
        <p:spPr>
          <a:xfrm>
            <a:off x="640080" y="5641848"/>
            <a:ext cx="10881360" cy="457200"/>
          </a:xfrm>
          <a:prstGeom prst="rect">
            <a:avLst/>
          </a:prstGeom>
          <a:noFill/>
        </p:spPr>
        <p:txBody>
          <a:bodyPr wrap="square">
            <a:spAutoFit/>
          </a:bodyPr>
          <a:lstStyle/>
          <a:p>
            <a:pPr algn="l"/>
            <a:r>
              <a:rPr sz="1200" b="0">
                <a:solidFill>
                  <a:srgbClr val="E2E8F0"/>
                </a:solidFill>
                <a:latin typeface="Calibri"/>
              </a:rPr>
              <a:t>Trust: states.amazonaws.com · Permite: Lambda invoke, Glue, CloudWatch metrics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Amazon EventBridge — Cron scheduler</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Declansare zilnica automata · zero interventie manuala</a:t>
            </a:r>
          </a:p>
        </p:txBody>
      </p:sp>
      <p:sp>
        <p:nvSpPr>
          <p:cNvPr id="6" name="Rounded Rectangle 5"/>
          <p:cNvSpPr/>
          <p:nvPr/>
        </p:nvSpPr>
        <p:spPr>
          <a:xfrm>
            <a:off x="457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166360" cy="292608"/>
          </a:xfrm>
          <a:prstGeom prst="rect">
            <a:avLst/>
          </a:prstGeom>
          <a:noFill/>
        </p:spPr>
        <p:txBody>
          <a:bodyPr wrap="square">
            <a:spAutoFit/>
          </a:bodyPr>
          <a:lstStyle/>
          <a:p>
            <a:pPr algn="l"/>
            <a:r>
              <a:rPr sz="1000" b="1">
                <a:solidFill>
                  <a:srgbClr val="A78BFA"/>
                </a:solidFill>
                <a:latin typeface="Calibri"/>
              </a:rPr>
              <a:t>DESPRE SERVICIU</a:t>
            </a:r>
          </a:p>
        </p:txBody>
      </p:sp>
      <p:sp>
        <p:nvSpPr>
          <p:cNvPr id="9" name="TextBox 8"/>
          <p:cNvSpPr txBox="1"/>
          <p:nvPr/>
        </p:nvSpPr>
        <p:spPr>
          <a:xfrm>
            <a:off x="731520" y="1938528"/>
            <a:ext cx="5166360" cy="960120"/>
          </a:xfrm>
          <a:prstGeom prst="rect">
            <a:avLst/>
          </a:prstGeom>
          <a:noFill/>
        </p:spPr>
        <p:txBody>
          <a:bodyPr wrap="square">
            <a:spAutoFit/>
          </a:bodyPr>
          <a:lstStyle/>
          <a:p>
            <a:pPr algn="l"/>
            <a:r>
              <a:rPr sz="1200" b="0">
                <a:solidFill>
                  <a:srgbClr val="E2E8F0"/>
                </a:solidFill>
                <a:latin typeface="Calibri"/>
              </a:rPr>
              <a:t>EventBridge este event bus-ul AWS — un sistem publish/subscribe in care orice eveniment (cron tick, S3 PutObject, schimbare de stare) poate triggera orice serviciu. La noi e folosit doar in rol de cron, dar puterea reala apare in pipelines reactive complete.</a:t>
            </a:r>
          </a:p>
        </p:txBody>
      </p:sp>
      <p:sp>
        <p:nvSpPr>
          <p:cNvPr id="10" name="Rounded Rectangle 9"/>
          <p:cNvSpPr/>
          <p:nvPr/>
        </p:nvSpPr>
        <p:spPr>
          <a:xfrm>
            <a:off x="6172200" y="1554480"/>
            <a:ext cx="5532120" cy="1417320"/>
          </a:xfrm>
          <a:prstGeom prst="roundRect">
            <a:avLst>
              <a:gd name="adj" fmla="val 6000"/>
            </a:avLst>
          </a:prstGeom>
          <a:solidFill>
            <a:srgbClr val="1E293B"/>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627632"/>
            <a:ext cx="91440"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64208"/>
            <a:ext cx="5166360" cy="292608"/>
          </a:xfrm>
          <a:prstGeom prst="rect">
            <a:avLst/>
          </a:prstGeom>
          <a:noFill/>
        </p:spPr>
        <p:txBody>
          <a:bodyPr wrap="square">
            <a:spAutoFit/>
          </a:bodyPr>
          <a:lstStyle/>
          <a:p>
            <a:pPr algn="l"/>
            <a:r>
              <a:rPr sz="1000" b="1">
                <a:solidFill>
                  <a:srgbClr val="A78BFA"/>
                </a:solidFill>
                <a:latin typeface="Calibri"/>
              </a:rPr>
              <a:t>ROL IN WEATHERLENS</a:t>
            </a:r>
          </a:p>
        </p:txBody>
      </p:sp>
      <p:sp>
        <p:nvSpPr>
          <p:cNvPr id="13" name="TextBox 12"/>
          <p:cNvSpPr txBox="1"/>
          <p:nvPr/>
        </p:nvSpPr>
        <p:spPr>
          <a:xfrm>
            <a:off x="6446520" y="1938528"/>
            <a:ext cx="5166360" cy="960120"/>
          </a:xfrm>
          <a:prstGeom prst="rect">
            <a:avLst/>
          </a:prstGeom>
          <a:noFill/>
        </p:spPr>
        <p:txBody>
          <a:bodyPr wrap="square">
            <a:spAutoFit/>
          </a:bodyPr>
          <a:lstStyle/>
          <a:p>
            <a:pPr algn="l"/>
            <a:r>
              <a:rPr sz="1200" b="0">
                <a:solidFill>
                  <a:srgbClr val="E2E8F0"/>
                </a:solidFill>
                <a:latin typeface="Calibri"/>
              </a:rPr>
              <a:t>Scheduler-ul cron care declanseaza pipeline-ul automat in fiecare zi la 06:00 UTC — apeleaza Lambda-ul de ingest, care porneste reactia in lant: Lambda → S3 Event → Step Functions → Glue → Athena → refresh QuickSight.</a:t>
            </a:r>
          </a:p>
        </p:txBody>
      </p:sp>
      <p:sp>
        <p:nvSpPr>
          <p:cNvPr id="14" name="TextBox 13"/>
          <p:cNvSpPr txBox="1"/>
          <p:nvPr/>
        </p:nvSpPr>
        <p:spPr>
          <a:xfrm>
            <a:off x="640080" y="3154680"/>
            <a:ext cx="10972800" cy="3200400"/>
          </a:xfrm>
          <a:prstGeom prst="rect">
            <a:avLst/>
          </a:prstGeom>
          <a:noFill/>
        </p:spPr>
        <p:txBody>
          <a:bodyPr wrap="square">
            <a:spAutoFit/>
          </a:bodyPr>
          <a:lstStyle/>
          <a:p>
            <a:pPr algn="l">
              <a:spcAft>
                <a:spcPts val="600"/>
              </a:spcAft>
            </a:pPr>
            <a:r>
              <a:rPr sz="1300">
                <a:solidFill>
                  <a:srgbClr val="E2E8F0"/>
                </a:solidFill>
                <a:latin typeface="Calibri"/>
              </a:rPr>
              <a:t>•  Rule: weatherlens-daily-ingest cu schedule-expression cron(0 6 * * ? *)</a:t>
            </a:r>
          </a:p>
          <a:p>
            <a:pPr algn="l">
              <a:spcAft>
                <a:spcPts val="600"/>
              </a:spcAft>
            </a:pPr>
            <a:r>
              <a:rPr sz="1300">
                <a:solidFill>
                  <a:srgbClr val="E2E8F0"/>
                </a:solidFill>
                <a:latin typeface="Calibri"/>
              </a:rPr>
              <a:t>•  Target: arn:aws:lambda:eu-central-1:*:function:weatherlens-ingest</a:t>
            </a:r>
          </a:p>
          <a:p>
            <a:pPr algn="l">
              <a:spcAft>
                <a:spcPts val="600"/>
              </a:spcAft>
            </a:pPr>
            <a:r>
              <a:rPr sz="1300">
                <a:solidFill>
                  <a:srgbClr val="E2E8F0"/>
                </a:solidFill>
                <a:latin typeface="Calibri"/>
              </a:rPr>
              <a:t>•  State: ENABLED · ruleaza zilnic la 06:00 UTC = 08:00 ora Romaniei</a:t>
            </a:r>
          </a:p>
          <a:p>
            <a:pPr algn="l">
              <a:spcAft>
                <a:spcPts val="600"/>
              </a:spcAft>
            </a:pPr>
            <a:r>
              <a:rPr sz="1300">
                <a:solidFill>
                  <a:srgbClr val="E2E8F0"/>
                </a:solidFill>
                <a:latin typeface="Calibri"/>
              </a:rPr>
              <a:t>•  Free Tier: 1M events/luna ⇒ proiectul foloseste ~30 events/luna ⇒ $0</a:t>
            </a:r>
          </a:p>
          <a:p>
            <a:pPr algn="l">
              <a:spcAft>
                <a:spcPts val="600"/>
              </a:spcAft>
            </a:pPr>
            <a:r>
              <a:rPr sz="1300">
                <a:solidFill>
                  <a:srgbClr val="E2E8F0"/>
                </a:solidFill>
                <a:latin typeface="Calibri"/>
              </a:rPr>
              <a:t>•  Echivalente locale: APScheduler · Windows Task Scheduler · GitHub Actions cron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Schema conexiunilor — cum se leaga cele 9 servicii</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Diagrama statica a relatiilor intre serviciile AWS folosite</a:t>
            </a:r>
          </a:p>
        </p:txBody>
      </p:sp>
      <p:sp>
        <p:nvSpPr>
          <p:cNvPr id="6" name="Rounded Rectangle 5"/>
          <p:cNvSpPr/>
          <p:nvPr/>
        </p:nvSpPr>
        <p:spPr>
          <a:xfrm>
            <a:off x="548640" y="1691640"/>
            <a:ext cx="2194560" cy="868680"/>
          </a:xfrm>
          <a:prstGeom prst="roundRect">
            <a:avLst>
              <a:gd name="adj" fmla="val 6000"/>
            </a:avLst>
          </a:prstGeom>
          <a:solidFill>
            <a:srgbClr val="1E293B"/>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83080"/>
            <a:ext cx="2194560" cy="320040"/>
          </a:xfrm>
          <a:prstGeom prst="rect">
            <a:avLst/>
          </a:prstGeom>
          <a:noFill/>
        </p:spPr>
        <p:txBody>
          <a:bodyPr wrap="square">
            <a:spAutoFit/>
          </a:bodyPr>
          <a:lstStyle/>
          <a:p>
            <a:pPr algn="ctr"/>
            <a:r>
              <a:rPr sz="1800" b="0">
                <a:solidFill>
                  <a:srgbClr val="A78BFA"/>
                </a:solidFill>
                <a:latin typeface="Calibri"/>
              </a:rPr>
              <a:t>⏰</a:t>
            </a:r>
          </a:p>
        </p:txBody>
      </p:sp>
      <p:sp>
        <p:nvSpPr>
          <p:cNvPr id="8" name="TextBox 7"/>
          <p:cNvSpPr txBox="1"/>
          <p:nvPr/>
        </p:nvSpPr>
        <p:spPr>
          <a:xfrm>
            <a:off x="548640" y="2148840"/>
            <a:ext cx="2194560" cy="365760"/>
          </a:xfrm>
          <a:prstGeom prst="rect">
            <a:avLst/>
          </a:prstGeom>
          <a:noFill/>
        </p:spPr>
        <p:txBody>
          <a:bodyPr wrap="square">
            <a:spAutoFit/>
          </a:bodyPr>
          <a:lstStyle/>
          <a:p>
            <a:pPr algn="ctr"/>
            <a:r>
              <a:rPr sz="1100" b="1">
                <a:solidFill>
                  <a:srgbClr val="E2E8F0"/>
                </a:solidFill>
                <a:latin typeface="Calibri"/>
              </a:rPr>
              <a:t>EventBridge</a:t>
            </a:r>
          </a:p>
        </p:txBody>
      </p:sp>
      <p:sp>
        <p:nvSpPr>
          <p:cNvPr id="9" name="TextBox 8"/>
          <p:cNvSpPr txBox="1"/>
          <p:nvPr/>
        </p:nvSpPr>
        <p:spPr>
          <a:xfrm>
            <a:off x="2743200" y="1993392"/>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10" name="Rounded Rectangle 9"/>
          <p:cNvSpPr/>
          <p:nvPr/>
        </p:nvSpPr>
        <p:spPr>
          <a:xfrm>
            <a:off x="3108960" y="1691640"/>
            <a:ext cx="2194560" cy="868680"/>
          </a:xfrm>
          <a:prstGeom prst="roundRect">
            <a:avLst>
              <a:gd name="adj" fmla="val 6000"/>
            </a:avLst>
          </a:prstGeom>
          <a:solidFill>
            <a:srgbClr val="1E293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1783080"/>
            <a:ext cx="2194560" cy="320040"/>
          </a:xfrm>
          <a:prstGeom prst="rect">
            <a:avLst/>
          </a:prstGeom>
          <a:noFill/>
        </p:spPr>
        <p:txBody>
          <a:bodyPr wrap="square">
            <a:spAutoFit/>
          </a:bodyPr>
          <a:lstStyle/>
          <a:p>
            <a:pPr algn="ctr"/>
            <a:r>
              <a:rPr sz="1800" b="0">
                <a:solidFill>
                  <a:srgbClr val="F59E0B"/>
                </a:solidFill>
                <a:latin typeface="Calibri"/>
              </a:rPr>
              <a:t>🔧</a:t>
            </a:r>
          </a:p>
        </p:txBody>
      </p:sp>
      <p:sp>
        <p:nvSpPr>
          <p:cNvPr id="12" name="TextBox 11"/>
          <p:cNvSpPr txBox="1"/>
          <p:nvPr/>
        </p:nvSpPr>
        <p:spPr>
          <a:xfrm>
            <a:off x="3108960" y="2148840"/>
            <a:ext cx="2194560" cy="365760"/>
          </a:xfrm>
          <a:prstGeom prst="rect">
            <a:avLst/>
          </a:prstGeom>
          <a:noFill/>
        </p:spPr>
        <p:txBody>
          <a:bodyPr wrap="square">
            <a:spAutoFit/>
          </a:bodyPr>
          <a:lstStyle/>
          <a:p>
            <a:pPr algn="ctr"/>
            <a:r>
              <a:rPr sz="1100" b="1">
                <a:solidFill>
                  <a:srgbClr val="E2E8F0"/>
                </a:solidFill>
                <a:latin typeface="Calibri"/>
              </a:rPr>
              <a:t>Lambda ingest</a:t>
            </a:r>
          </a:p>
        </p:txBody>
      </p:sp>
      <p:sp>
        <p:nvSpPr>
          <p:cNvPr id="13" name="TextBox 12"/>
          <p:cNvSpPr txBox="1"/>
          <p:nvPr/>
        </p:nvSpPr>
        <p:spPr>
          <a:xfrm>
            <a:off x="5303520" y="1993392"/>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14" name="Rounded Rectangle 13"/>
          <p:cNvSpPr/>
          <p:nvPr/>
        </p:nvSpPr>
        <p:spPr>
          <a:xfrm>
            <a:off x="5669280" y="1691640"/>
            <a:ext cx="2194560" cy="868680"/>
          </a:xfrm>
          <a:prstGeom prst="roundRect">
            <a:avLst>
              <a:gd name="adj" fmla="val 6000"/>
            </a:avLst>
          </a:prstGeom>
          <a:solidFill>
            <a:srgbClr val="0B1220"/>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1783080"/>
            <a:ext cx="2194560" cy="320040"/>
          </a:xfrm>
          <a:prstGeom prst="rect">
            <a:avLst/>
          </a:prstGeom>
          <a:noFill/>
        </p:spPr>
        <p:txBody>
          <a:bodyPr wrap="square">
            <a:spAutoFit/>
          </a:bodyPr>
          <a:lstStyle/>
          <a:p>
            <a:pPr algn="ctr"/>
            <a:r>
              <a:rPr sz="1800" b="0">
                <a:solidFill>
                  <a:srgbClr val="94A3B8"/>
                </a:solidFill>
                <a:latin typeface="Calibri"/>
              </a:rPr>
              <a:t>📡</a:t>
            </a:r>
          </a:p>
        </p:txBody>
      </p:sp>
      <p:sp>
        <p:nvSpPr>
          <p:cNvPr id="16" name="TextBox 15"/>
          <p:cNvSpPr txBox="1"/>
          <p:nvPr/>
        </p:nvSpPr>
        <p:spPr>
          <a:xfrm>
            <a:off x="5669280" y="2148840"/>
            <a:ext cx="2194560" cy="365760"/>
          </a:xfrm>
          <a:prstGeom prst="rect">
            <a:avLst/>
          </a:prstGeom>
          <a:noFill/>
        </p:spPr>
        <p:txBody>
          <a:bodyPr wrap="square">
            <a:spAutoFit/>
          </a:bodyPr>
          <a:lstStyle/>
          <a:p>
            <a:pPr algn="ctr"/>
            <a:r>
              <a:rPr sz="1100" b="1">
                <a:solidFill>
                  <a:srgbClr val="94A3B8"/>
                </a:solidFill>
                <a:latin typeface="Calibri"/>
              </a:rPr>
              <a:t>Open-Meteo API</a:t>
            </a:r>
          </a:p>
        </p:txBody>
      </p:sp>
      <p:sp>
        <p:nvSpPr>
          <p:cNvPr id="17" name="TextBox 16"/>
          <p:cNvSpPr txBox="1"/>
          <p:nvPr/>
        </p:nvSpPr>
        <p:spPr>
          <a:xfrm>
            <a:off x="4023360" y="260604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18" name="Rounded Rectangle 17"/>
          <p:cNvSpPr/>
          <p:nvPr/>
        </p:nvSpPr>
        <p:spPr>
          <a:xfrm>
            <a:off x="3108960" y="3017520"/>
            <a:ext cx="2194560" cy="868680"/>
          </a:xfrm>
          <a:prstGeom prst="roundRect">
            <a:avLst>
              <a:gd name="adj" fmla="val 6000"/>
            </a:avLst>
          </a:prstGeom>
          <a:solidFill>
            <a:srgbClr val="1E293B"/>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08960" y="3108960"/>
            <a:ext cx="2194560" cy="320040"/>
          </a:xfrm>
          <a:prstGeom prst="rect">
            <a:avLst/>
          </a:prstGeom>
          <a:noFill/>
        </p:spPr>
        <p:txBody>
          <a:bodyPr wrap="square">
            <a:spAutoFit/>
          </a:bodyPr>
          <a:lstStyle/>
          <a:p>
            <a:pPr algn="ctr"/>
            <a:r>
              <a:rPr sz="1800" b="0">
                <a:solidFill>
                  <a:srgbClr val="3B82F6"/>
                </a:solidFill>
                <a:latin typeface="Calibri"/>
              </a:rPr>
              <a:t>📦</a:t>
            </a:r>
          </a:p>
        </p:txBody>
      </p:sp>
      <p:sp>
        <p:nvSpPr>
          <p:cNvPr id="20" name="TextBox 19"/>
          <p:cNvSpPr txBox="1"/>
          <p:nvPr/>
        </p:nvSpPr>
        <p:spPr>
          <a:xfrm>
            <a:off x="3108960" y="3474720"/>
            <a:ext cx="2194560" cy="365760"/>
          </a:xfrm>
          <a:prstGeom prst="rect">
            <a:avLst/>
          </a:prstGeom>
          <a:noFill/>
        </p:spPr>
        <p:txBody>
          <a:bodyPr wrap="square">
            <a:spAutoFit/>
          </a:bodyPr>
          <a:lstStyle/>
          <a:p>
            <a:pPr algn="ctr"/>
            <a:r>
              <a:rPr sz="1100" b="1">
                <a:solidFill>
                  <a:srgbClr val="E2E8F0"/>
                </a:solidFill>
                <a:latin typeface="Calibri"/>
              </a:rPr>
              <a:t>S3 raw (JSON)</a:t>
            </a:r>
          </a:p>
        </p:txBody>
      </p:sp>
      <p:sp>
        <p:nvSpPr>
          <p:cNvPr id="21" name="TextBox 20"/>
          <p:cNvSpPr txBox="1"/>
          <p:nvPr/>
        </p:nvSpPr>
        <p:spPr>
          <a:xfrm>
            <a:off x="5303520" y="3319272"/>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22" name="Rounded Rectangle 21"/>
          <p:cNvSpPr/>
          <p:nvPr/>
        </p:nvSpPr>
        <p:spPr>
          <a:xfrm>
            <a:off x="5669280" y="3017520"/>
            <a:ext cx="2194560" cy="868680"/>
          </a:xfrm>
          <a:prstGeom prst="roundRect">
            <a:avLst>
              <a:gd name="adj" fmla="val 6000"/>
            </a:avLst>
          </a:prstGeom>
          <a:solidFill>
            <a:srgbClr val="1E293B"/>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3108960"/>
            <a:ext cx="2194560" cy="320040"/>
          </a:xfrm>
          <a:prstGeom prst="rect">
            <a:avLst/>
          </a:prstGeom>
          <a:noFill/>
        </p:spPr>
        <p:txBody>
          <a:bodyPr wrap="square">
            <a:spAutoFit/>
          </a:bodyPr>
          <a:lstStyle/>
          <a:p>
            <a:pPr algn="ctr"/>
            <a:r>
              <a:rPr sz="1800" b="0">
                <a:solidFill>
                  <a:srgbClr val="10B981"/>
                </a:solidFill>
                <a:latin typeface="Calibri"/>
              </a:rPr>
              <a:t>🎯</a:t>
            </a:r>
          </a:p>
        </p:txBody>
      </p:sp>
      <p:sp>
        <p:nvSpPr>
          <p:cNvPr id="24" name="TextBox 23"/>
          <p:cNvSpPr txBox="1"/>
          <p:nvPr/>
        </p:nvSpPr>
        <p:spPr>
          <a:xfrm>
            <a:off x="5669280" y="3474720"/>
            <a:ext cx="2194560" cy="365760"/>
          </a:xfrm>
          <a:prstGeom prst="rect">
            <a:avLst/>
          </a:prstGeom>
          <a:noFill/>
        </p:spPr>
        <p:txBody>
          <a:bodyPr wrap="square">
            <a:spAutoFit/>
          </a:bodyPr>
          <a:lstStyle/>
          <a:p>
            <a:pPr algn="ctr"/>
            <a:r>
              <a:rPr sz="1100" b="1">
                <a:solidFill>
                  <a:srgbClr val="E2E8F0"/>
                </a:solidFill>
                <a:latin typeface="Calibri"/>
              </a:rPr>
              <a:t>Step Functions</a:t>
            </a:r>
          </a:p>
        </p:txBody>
      </p:sp>
      <p:sp>
        <p:nvSpPr>
          <p:cNvPr id="25" name="TextBox 24"/>
          <p:cNvSpPr txBox="1"/>
          <p:nvPr/>
        </p:nvSpPr>
        <p:spPr>
          <a:xfrm>
            <a:off x="6583680" y="393192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26" name="Rounded Rectangle 25"/>
          <p:cNvSpPr/>
          <p:nvPr/>
        </p:nvSpPr>
        <p:spPr>
          <a:xfrm>
            <a:off x="4572000" y="4343400"/>
            <a:ext cx="2011680" cy="777240"/>
          </a:xfrm>
          <a:prstGeom prst="roundRect">
            <a:avLst>
              <a:gd name="adj" fmla="val 6000"/>
            </a:avLst>
          </a:prstGeom>
          <a:solidFill>
            <a:srgbClr val="1E293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0" y="4434840"/>
            <a:ext cx="2011680" cy="320040"/>
          </a:xfrm>
          <a:prstGeom prst="rect">
            <a:avLst/>
          </a:prstGeom>
          <a:noFill/>
        </p:spPr>
        <p:txBody>
          <a:bodyPr wrap="square">
            <a:spAutoFit/>
          </a:bodyPr>
          <a:lstStyle/>
          <a:p>
            <a:pPr algn="ctr"/>
            <a:r>
              <a:rPr sz="1800" b="0">
                <a:solidFill>
                  <a:srgbClr val="F59E0B"/>
                </a:solidFill>
                <a:latin typeface="Calibri"/>
              </a:rPr>
              <a:t>🔍</a:t>
            </a:r>
          </a:p>
        </p:txBody>
      </p:sp>
      <p:sp>
        <p:nvSpPr>
          <p:cNvPr id="28" name="TextBox 27"/>
          <p:cNvSpPr txBox="1"/>
          <p:nvPr/>
        </p:nvSpPr>
        <p:spPr>
          <a:xfrm>
            <a:off x="4572000" y="4800600"/>
            <a:ext cx="2011680" cy="365760"/>
          </a:xfrm>
          <a:prstGeom prst="rect">
            <a:avLst/>
          </a:prstGeom>
          <a:noFill/>
        </p:spPr>
        <p:txBody>
          <a:bodyPr wrap="square">
            <a:spAutoFit/>
          </a:bodyPr>
          <a:lstStyle/>
          <a:p>
            <a:pPr algn="ctr"/>
            <a:r>
              <a:rPr sz="1100" b="1">
                <a:solidFill>
                  <a:srgbClr val="E2E8F0"/>
                </a:solidFill>
                <a:latin typeface="Calibri"/>
              </a:rPr>
              <a:t>Lambda validate</a:t>
            </a:r>
          </a:p>
        </p:txBody>
      </p:sp>
      <p:sp>
        <p:nvSpPr>
          <p:cNvPr id="29" name="TextBox 28"/>
          <p:cNvSpPr txBox="1"/>
          <p:nvPr/>
        </p:nvSpPr>
        <p:spPr>
          <a:xfrm>
            <a:off x="6583680" y="452628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30" name="Rounded Rectangle 29"/>
          <p:cNvSpPr/>
          <p:nvPr/>
        </p:nvSpPr>
        <p:spPr>
          <a:xfrm>
            <a:off x="6949440" y="4343400"/>
            <a:ext cx="2011680" cy="777240"/>
          </a:xfrm>
          <a:prstGeom prst="roundRect">
            <a:avLst>
              <a:gd name="adj" fmla="val 6000"/>
            </a:avLst>
          </a:prstGeom>
          <a:solidFill>
            <a:srgbClr val="1E293B"/>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49440" y="4434840"/>
            <a:ext cx="2011680" cy="320040"/>
          </a:xfrm>
          <a:prstGeom prst="rect">
            <a:avLst/>
          </a:prstGeom>
          <a:noFill/>
        </p:spPr>
        <p:txBody>
          <a:bodyPr wrap="square">
            <a:spAutoFit/>
          </a:bodyPr>
          <a:lstStyle/>
          <a:p>
            <a:pPr algn="ctr"/>
            <a:r>
              <a:rPr sz="1800" b="0">
                <a:solidFill>
                  <a:srgbClr val="EF4444"/>
                </a:solidFill>
                <a:latin typeface="Calibri"/>
              </a:rPr>
              <a:t>⚙️</a:t>
            </a:r>
          </a:p>
        </p:txBody>
      </p:sp>
      <p:sp>
        <p:nvSpPr>
          <p:cNvPr id="32" name="TextBox 31"/>
          <p:cNvSpPr txBox="1"/>
          <p:nvPr/>
        </p:nvSpPr>
        <p:spPr>
          <a:xfrm>
            <a:off x="6949440" y="4800600"/>
            <a:ext cx="2011680" cy="365760"/>
          </a:xfrm>
          <a:prstGeom prst="rect">
            <a:avLst/>
          </a:prstGeom>
          <a:noFill/>
        </p:spPr>
        <p:txBody>
          <a:bodyPr wrap="square">
            <a:spAutoFit/>
          </a:bodyPr>
          <a:lstStyle/>
          <a:p>
            <a:pPr algn="ctr"/>
            <a:r>
              <a:rPr sz="1100" b="1">
                <a:solidFill>
                  <a:srgbClr val="E2E8F0"/>
                </a:solidFill>
                <a:latin typeface="Calibri"/>
              </a:rPr>
              <a:t>Glue ETL</a:t>
            </a:r>
          </a:p>
        </p:txBody>
      </p:sp>
      <p:sp>
        <p:nvSpPr>
          <p:cNvPr id="33" name="TextBox 32"/>
          <p:cNvSpPr txBox="1"/>
          <p:nvPr/>
        </p:nvSpPr>
        <p:spPr>
          <a:xfrm>
            <a:off x="8961120" y="452628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34" name="Rounded Rectangle 33"/>
          <p:cNvSpPr/>
          <p:nvPr/>
        </p:nvSpPr>
        <p:spPr>
          <a:xfrm>
            <a:off x="9326880" y="4343400"/>
            <a:ext cx="2377440" cy="777240"/>
          </a:xfrm>
          <a:prstGeom prst="roundRect">
            <a:avLst>
              <a:gd name="adj" fmla="val 6000"/>
            </a:avLst>
          </a:prstGeom>
          <a:solidFill>
            <a:srgbClr val="1E293B"/>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26880" y="4434840"/>
            <a:ext cx="2377440" cy="320040"/>
          </a:xfrm>
          <a:prstGeom prst="rect">
            <a:avLst/>
          </a:prstGeom>
          <a:noFill/>
        </p:spPr>
        <p:txBody>
          <a:bodyPr wrap="square">
            <a:spAutoFit/>
          </a:bodyPr>
          <a:lstStyle/>
          <a:p>
            <a:pPr algn="ctr"/>
            <a:r>
              <a:rPr sz="1800" b="0">
                <a:solidFill>
                  <a:srgbClr val="3B82F6"/>
                </a:solidFill>
                <a:latin typeface="Calibri"/>
              </a:rPr>
              <a:t>📦</a:t>
            </a:r>
          </a:p>
        </p:txBody>
      </p:sp>
      <p:sp>
        <p:nvSpPr>
          <p:cNvPr id="36" name="TextBox 35"/>
          <p:cNvSpPr txBox="1"/>
          <p:nvPr/>
        </p:nvSpPr>
        <p:spPr>
          <a:xfrm>
            <a:off x="9326880" y="4800600"/>
            <a:ext cx="2377440" cy="365760"/>
          </a:xfrm>
          <a:prstGeom prst="rect">
            <a:avLst/>
          </a:prstGeom>
          <a:noFill/>
        </p:spPr>
        <p:txBody>
          <a:bodyPr wrap="square">
            <a:spAutoFit/>
          </a:bodyPr>
          <a:lstStyle/>
          <a:p>
            <a:pPr algn="ctr"/>
            <a:r>
              <a:rPr sz="1100" b="1">
                <a:solidFill>
                  <a:srgbClr val="E2E8F0"/>
                </a:solidFill>
                <a:latin typeface="Calibri"/>
              </a:rPr>
              <a:t>S3 processed</a:t>
            </a:r>
          </a:p>
        </p:txBody>
      </p:sp>
      <p:sp>
        <p:nvSpPr>
          <p:cNvPr id="37" name="TextBox 36"/>
          <p:cNvSpPr txBox="1"/>
          <p:nvPr/>
        </p:nvSpPr>
        <p:spPr>
          <a:xfrm>
            <a:off x="10332720" y="516636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38" name="Rounded Rectangle 37"/>
          <p:cNvSpPr/>
          <p:nvPr/>
        </p:nvSpPr>
        <p:spPr>
          <a:xfrm>
            <a:off x="548640" y="5577840"/>
            <a:ext cx="2194560" cy="731520"/>
          </a:xfrm>
          <a:prstGeom prst="roundRect">
            <a:avLst>
              <a:gd name="adj" fmla="val 6000"/>
            </a:avLst>
          </a:prstGeom>
          <a:solidFill>
            <a:srgbClr val="1E293B"/>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5669280"/>
            <a:ext cx="2194560" cy="320040"/>
          </a:xfrm>
          <a:prstGeom prst="rect">
            <a:avLst/>
          </a:prstGeom>
          <a:noFill/>
        </p:spPr>
        <p:txBody>
          <a:bodyPr wrap="square">
            <a:spAutoFit/>
          </a:bodyPr>
          <a:lstStyle/>
          <a:p>
            <a:pPr algn="ctr"/>
            <a:r>
              <a:rPr sz="1800" b="0">
                <a:solidFill>
                  <a:srgbClr val="3B82F6"/>
                </a:solidFill>
                <a:latin typeface="Calibri"/>
              </a:rPr>
              <a:t>🗄️</a:t>
            </a:r>
          </a:p>
        </p:txBody>
      </p:sp>
      <p:sp>
        <p:nvSpPr>
          <p:cNvPr id="40" name="TextBox 39"/>
          <p:cNvSpPr txBox="1"/>
          <p:nvPr/>
        </p:nvSpPr>
        <p:spPr>
          <a:xfrm>
            <a:off x="548640" y="6035040"/>
            <a:ext cx="2194560" cy="365760"/>
          </a:xfrm>
          <a:prstGeom prst="rect">
            <a:avLst/>
          </a:prstGeom>
          <a:noFill/>
        </p:spPr>
        <p:txBody>
          <a:bodyPr wrap="square">
            <a:spAutoFit/>
          </a:bodyPr>
          <a:lstStyle/>
          <a:p>
            <a:pPr algn="ctr"/>
            <a:r>
              <a:rPr sz="1100" b="1">
                <a:solidFill>
                  <a:srgbClr val="E2E8F0"/>
                </a:solidFill>
                <a:latin typeface="Calibri"/>
              </a:rPr>
              <a:t>Athena</a:t>
            </a:r>
          </a:p>
        </p:txBody>
      </p:sp>
      <p:sp>
        <p:nvSpPr>
          <p:cNvPr id="41" name="TextBox 40"/>
          <p:cNvSpPr txBox="1"/>
          <p:nvPr/>
        </p:nvSpPr>
        <p:spPr>
          <a:xfrm>
            <a:off x="2743200" y="576072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42" name="Rounded Rectangle 41"/>
          <p:cNvSpPr/>
          <p:nvPr/>
        </p:nvSpPr>
        <p:spPr>
          <a:xfrm>
            <a:off x="3108960" y="5577840"/>
            <a:ext cx="2194560" cy="731520"/>
          </a:xfrm>
          <a:prstGeom prst="roundRect">
            <a:avLst>
              <a:gd name="adj" fmla="val 6000"/>
            </a:avLst>
          </a:prstGeom>
          <a:solidFill>
            <a:srgbClr val="1E293B"/>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108960" y="5669280"/>
            <a:ext cx="2194560" cy="320040"/>
          </a:xfrm>
          <a:prstGeom prst="rect">
            <a:avLst/>
          </a:prstGeom>
          <a:noFill/>
        </p:spPr>
        <p:txBody>
          <a:bodyPr wrap="square">
            <a:spAutoFit/>
          </a:bodyPr>
          <a:lstStyle/>
          <a:p>
            <a:pPr algn="ctr"/>
            <a:r>
              <a:rPr sz="1800" b="0">
                <a:solidFill>
                  <a:srgbClr val="EF4444"/>
                </a:solidFill>
                <a:latin typeface="Calibri"/>
              </a:rPr>
              <a:t>📊</a:t>
            </a:r>
          </a:p>
        </p:txBody>
      </p:sp>
      <p:sp>
        <p:nvSpPr>
          <p:cNvPr id="44" name="TextBox 43"/>
          <p:cNvSpPr txBox="1"/>
          <p:nvPr/>
        </p:nvSpPr>
        <p:spPr>
          <a:xfrm>
            <a:off x="3108960" y="6035040"/>
            <a:ext cx="2194560" cy="365760"/>
          </a:xfrm>
          <a:prstGeom prst="rect">
            <a:avLst/>
          </a:prstGeom>
          <a:noFill/>
        </p:spPr>
        <p:txBody>
          <a:bodyPr wrap="square">
            <a:spAutoFit/>
          </a:bodyPr>
          <a:lstStyle/>
          <a:p>
            <a:pPr algn="ctr"/>
            <a:r>
              <a:rPr sz="1100" b="1">
                <a:solidFill>
                  <a:srgbClr val="E2E8F0"/>
                </a:solidFill>
                <a:latin typeface="Calibri"/>
              </a:rPr>
              <a:t>QuickSight</a:t>
            </a:r>
          </a:p>
        </p:txBody>
      </p:sp>
      <p:sp>
        <p:nvSpPr>
          <p:cNvPr id="45" name="TextBox 44"/>
          <p:cNvSpPr txBox="1"/>
          <p:nvPr/>
        </p:nvSpPr>
        <p:spPr>
          <a:xfrm>
            <a:off x="5303520" y="5760720"/>
            <a:ext cx="365760" cy="365760"/>
          </a:xfrm>
          <a:prstGeom prst="rect">
            <a:avLst/>
          </a:prstGeom>
          <a:noFill/>
        </p:spPr>
        <p:txBody>
          <a:bodyPr wrap="square">
            <a:spAutoFit/>
          </a:bodyPr>
          <a:lstStyle/>
          <a:p>
            <a:pPr algn="ctr"/>
            <a:r>
              <a:rPr sz="2000" b="1">
                <a:solidFill>
                  <a:srgbClr val="94A3B8"/>
                </a:solidFill>
                <a:latin typeface="Calibri"/>
              </a:rPr>
              <a:t>←</a:t>
            </a:r>
          </a:p>
        </p:txBody>
      </p:sp>
      <p:sp>
        <p:nvSpPr>
          <p:cNvPr id="46" name="Rounded Rectangle 45"/>
          <p:cNvSpPr/>
          <p:nvPr/>
        </p:nvSpPr>
        <p:spPr>
          <a:xfrm>
            <a:off x="5669280" y="5577840"/>
            <a:ext cx="2194560" cy="731520"/>
          </a:xfrm>
          <a:prstGeom prst="roundRect">
            <a:avLst>
              <a:gd name="adj" fmla="val 6000"/>
            </a:avLst>
          </a:prstGeom>
          <a:solidFill>
            <a:srgbClr val="1E293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69280" y="5669280"/>
            <a:ext cx="2194560" cy="320040"/>
          </a:xfrm>
          <a:prstGeom prst="rect">
            <a:avLst/>
          </a:prstGeom>
          <a:noFill/>
        </p:spPr>
        <p:txBody>
          <a:bodyPr wrap="square">
            <a:spAutoFit/>
          </a:bodyPr>
          <a:lstStyle/>
          <a:p>
            <a:pPr algn="ctr"/>
            <a:r>
              <a:rPr sz="1800" b="0">
                <a:solidFill>
                  <a:srgbClr val="F59E0B"/>
                </a:solidFill>
                <a:latin typeface="Calibri"/>
              </a:rPr>
              <a:t>📥</a:t>
            </a:r>
          </a:p>
        </p:txBody>
      </p:sp>
      <p:sp>
        <p:nvSpPr>
          <p:cNvPr id="48" name="TextBox 47"/>
          <p:cNvSpPr txBox="1"/>
          <p:nvPr/>
        </p:nvSpPr>
        <p:spPr>
          <a:xfrm>
            <a:off x="5669280" y="6035040"/>
            <a:ext cx="2194560" cy="365760"/>
          </a:xfrm>
          <a:prstGeom prst="rect">
            <a:avLst/>
          </a:prstGeom>
          <a:noFill/>
        </p:spPr>
        <p:txBody>
          <a:bodyPr wrap="square">
            <a:spAutoFit/>
          </a:bodyPr>
          <a:lstStyle/>
          <a:p>
            <a:pPr algn="ctr"/>
            <a:r>
              <a:rPr sz="1100" b="1">
                <a:solidFill>
                  <a:srgbClr val="E2E8F0"/>
                </a:solidFill>
                <a:latin typeface="Calibri"/>
              </a:rPr>
              <a:t>Lambda export</a:t>
            </a:r>
          </a:p>
        </p:txBody>
      </p:sp>
      <p:sp>
        <p:nvSpPr>
          <p:cNvPr id="49" name="Rounded Rectangle 48"/>
          <p:cNvSpPr/>
          <p:nvPr/>
        </p:nvSpPr>
        <p:spPr>
          <a:xfrm>
            <a:off x="8229600" y="5577840"/>
            <a:ext cx="3474720" cy="731520"/>
          </a:xfrm>
          <a:prstGeom prst="roundRect">
            <a:avLst>
              <a:gd name="adj" fmla="val 6000"/>
            </a:avLst>
          </a:prstGeom>
          <a:solidFill>
            <a:srgbClr val="1E293B"/>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366760" y="5669280"/>
            <a:ext cx="3291840" cy="274320"/>
          </a:xfrm>
          <a:prstGeom prst="rect">
            <a:avLst/>
          </a:prstGeom>
          <a:noFill/>
        </p:spPr>
        <p:txBody>
          <a:bodyPr wrap="square">
            <a:spAutoFit/>
          </a:bodyPr>
          <a:lstStyle/>
          <a:p>
            <a:pPr algn="l"/>
            <a:r>
              <a:rPr sz="1000" b="1">
                <a:solidFill>
                  <a:srgbClr val="A78BFA"/>
                </a:solidFill>
                <a:latin typeface="Calibri"/>
              </a:rPr>
              <a:t>CROSS-CUTTING</a:t>
            </a:r>
          </a:p>
        </p:txBody>
      </p:sp>
      <p:sp>
        <p:nvSpPr>
          <p:cNvPr id="51" name="TextBox 50"/>
          <p:cNvSpPr txBox="1"/>
          <p:nvPr/>
        </p:nvSpPr>
        <p:spPr>
          <a:xfrm>
            <a:off x="8366760" y="5943600"/>
            <a:ext cx="3291840" cy="365760"/>
          </a:xfrm>
          <a:prstGeom prst="rect">
            <a:avLst/>
          </a:prstGeom>
          <a:noFill/>
        </p:spPr>
        <p:txBody>
          <a:bodyPr wrap="square">
            <a:spAutoFit/>
          </a:bodyPr>
          <a:lstStyle/>
          <a:p>
            <a:pPr algn="l"/>
            <a:r>
              <a:rPr sz="1200" b="1">
                <a:solidFill>
                  <a:srgbClr val="E2E8F0"/>
                </a:solidFill>
                <a:latin typeface="Calibri"/>
              </a:rPr>
              <a:t>📈 CloudWatch · 🔐 IAM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Workflow la nivel macro — 4 faze</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Cum curge data prin proiect, de la API la utilizator</a:t>
            </a:r>
          </a:p>
        </p:txBody>
      </p:sp>
      <p:sp>
        <p:nvSpPr>
          <p:cNvPr id="6" name="Rounded Rectangle 5"/>
          <p:cNvSpPr/>
          <p:nvPr/>
        </p:nvSpPr>
        <p:spPr>
          <a:xfrm>
            <a:off x="357987" y="1828800"/>
            <a:ext cx="2697480" cy="3840480"/>
          </a:xfrm>
          <a:prstGeom prst="roundRect">
            <a:avLst>
              <a:gd name="adj" fmla="val 6000"/>
            </a:avLst>
          </a:prstGeom>
          <a:solidFill>
            <a:srgbClr val="1E293B"/>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7987" y="1965960"/>
            <a:ext cx="2697480" cy="365760"/>
          </a:xfrm>
          <a:prstGeom prst="rect">
            <a:avLst/>
          </a:prstGeom>
          <a:noFill/>
        </p:spPr>
        <p:txBody>
          <a:bodyPr wrap="square">
            <a:spAutoFit/>
          </a:bodyPr>
          <a:lstStyle/>
          <a:p>
            <a:pPr algn="ctr"/>
            <a:r>
              <a:rPr sz="1400" b="1">
                <a:solidFill>
                  <a:srgbClr val="F59E0B"/>
                </a:solidFill>
                <a:latin typeface="Calibri"/>
              </a:rPr>
              <a:t>1. PRELUARE</a:t>
            </a:r>
          </a:p>
        </p:txBody>
      </p:sp>
      <p:sp>
        <p:nvSpPr>
          <p:cNvPr id="8" name="TextBox 7"/>
          <p:cNvSpPr txBox="1"/>
          <p:nvPr/>
        </p:nvSpPr>
        <p:spPr>
          <a:xfrm>
            <a:off x="357987" y="2331720"/>
            <a:ext cx="2697480" cy="457200"/>
          </a:xfrm>
          <a:prstGeom prst="rect">
            <a:avLst/>
          </a:prstGeom>
          <a:noFill/>
        </p:spPr>
        <p:txBody>
          <a:bodyPr wrap="square">
            <a:spAutoFit/>
          </a:bodyPr>
          <a:lstStyle/>
          <a:p>
            <a:pPr algn="ctr"/>
            <a:r>
              <a:rPr sz="1100" b="0">
                <a:solidFill>
                  <a:srgbClr val="94A3B8"/>
                </a:solidFill>
                <a:latin typeface="Calibri"/>
              </a:rPr>
              <a:t>Date externe → S3</a:t>
            </a:r>
          </a:p>
        </p:txBody>
      </p:sp>
      <p:sp>
        <p:nvSpPr>
          <p:cNvPr id="9" name="Rectangle 8"/>
          <p:cNvSpPr/>
          <p:nvPr/>
        </p:nvSpPr>
        <p:spPr>
          <a:xfrm>
            <a:off x="723747" y="2834640"/>
            <a:ext cx="1965960" cy="1097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867" y="2971800"/>
            <a:ext cx="2331720" cy="2560320"/>
          </a:xfrm>
          <a:prstGeom prst="rect">
            <a:avLst/>
          </a:prstGeom>
          <a:noFill/>
        </p:spPr>
        <p:txBody>
          <a:bodyPr wrap="square">
            <a:spAutoFit/>
          </a:bodyPr>
          <a:lstStyle/>
          <a:p>
            <a:pPr algn="l">
              <a:spcAft>
                <a:spcPts val="1000"/>
              </a:spcAft>
            </a:pPr>
            <a:r>
              <a:rPr sz="1300" dirty="0">
                <a:solidFill>
                  <a:srgbClr val="E2E8F0"/>
                </a:solidFill>
                <a:latin typeface="Calibri"/>
              </a:rPr>
              <a:t>▸ </a:t>
            </a:r>
            <a:r>
              <a:rPr sz="1300" dirty="0" err="1">
                <a:solidFill>
                  <a:srgbClr val="E2E8F0"/>
                </a:solidFill>
                <a:latin typeface="Calibri"/>
              </a:rPr>
              <a:t>EventBridge</a:t>
            </a:r>
            <a:r>
              <a:rPr sz="1300" dirty="0">
                <a:solidFill>
                  <a:srgbClr val="E2E8F0"/>
                </a:solidFill>
                <a:latin typeface="Calibri"/>
              </a:rPr>
              <a:t> </a:t>
            </a:r>
            <a:r>
              <a:rPr sz="1300" dirty="0" err="1">
                <a:solidFill>
                  <a:srgbClr val="E2E8F0"/>
                </a:solidFill>
                <a:latin typeface="Calibri"/>
              </a:rPr>
              <a:t>cron</a:t>
            </a:r>
            <a:endParaRPr sz="1300" dirty="0">
              <a:solidFill>
                <a:srgbClr val="E2E8F0"/>
              </a:solidFill>
              <a:latin typeface="Calibri"/>
            </a:endParaRPr>
          </a:p>
          <a:p>
            <a:pPr algn="l">
              <a:spcAft>
                <a:spcPts val="1000"/>
              </a:spcAft>
            </a:pPr>
            <a:r>
              <a:rPr sz="1300" dirty="0">
                <a:solidFill>
                  <a:srgbClr val="E2E8F0"/>
                </a:solidFill>
                <a:latin typeface="Calibri"/>
              </a:rPr>
              <a:t>▸ Lambda ingest</a:t>
            </a:r>
          </a:p>
          <a:p>
            <a:pPr algn="l">
              <a:spcAft>
                <a:spcPts val="1000"/>
              </a:spcAft>
            </a:pPr>
            <a:r>
              <a:rPr sz="1300" dirty="0">
                <a:solidFill>
                  <a:srgbClr val="E2E8F0"/>
                </a:solidFill>
                <a:latin typeface="Calibri"/>
              </a:rPr>
              <a:t>▸ Open-</a:t>
            </a:r>
            <a:r>
              <a:rPr sz="1300" dirty="0" err="1">
                <a:solidFill>
                  <a:srgbClr val="E2E8F0"/>
                </a:solidFill>
                <a:latin typeface="Calibri"/>
              </a:rPr>
              <a:t>Meteo</a:t>
            </a:r>
            <a:r>
              <a:rPr sz="1300" dirty="0">
                <a:solidFill>
                  <a:srgbClr val="E2E8F0"/>
                </a:solidFill>
                <a:latin typeface="Calibri"/>
              </a:rPr>
              <a:t> API</a:t>
            </a:r>
          </a:p>
          <a:p>
            <a:pPr algn="l">
              <a:spcAft>
                <a:spcPts val="1000"/>
              </a:spcAft>
            </a:pPr>
            <a:r>
              <a:rPr sz="1300" dirty="0">
                <a:solidFill>
                  <a:srgbClr val="E2E8F0"/>
                </a:solidFill>
                <a:latin typeface="Calibri"/>
              </a:rPr>
              <a:t>▸ S3 raw (JSON)</a:t>
            </a:r>
          </a:p>
        </p:txBody>
      </p:sp>
      <p:sp>
        <p:nvSpPr>
          <p:cNvPr id="11" name="TextBox 10"/>
          <p:cNvSpPr txBox="1"/>
          <p:nvPr/>
        </p:nvSpPr>
        <p:spPr>
          <a:xfrm>
            <a:off x="3055467" y="3611880"/>
            <a:ext cx="228600" cy="365760"/>
          </a:xfrm>
          <a:prstGeom prst="rect">
            <a:avLst/>
          </a:prstGeom>
          <a:noFill/>
        </p:spPr>
        <p:txBody>
          <a:bodyPr wrap="square">
            <a:spAutoFit/>
          </a:bodyPr>
          <a:lstStyle/>
          <a:p>
            <a:pPr algn="ctr"/>
            <a:r>
              <a:rPr sz="2200" b="1">
                <a:solidFill>
                  <a:srgbClr val="94A3B8"/>
                </a:solidFill>
                <a:latin typeface="Calibri"/>
              </a:rPr>
              <a:t>→</a:t>
            </a:r>
          </a:p>
        </p:txBody>
      </p:sp>
      <p:sp>
        <p:nvSpPr>
          <p:cNvPr id="12" name="Rounded Rectangle 11"/>
          <p:cNvSpPr/>
          <p:nvPr/>
        </p:nvSpPr>
        <p:spPr>
          <a:xfrm>
            <a:off x="3284067" y="1828800"/>
            <a:ext cx="2697480" cy="3840480"/>
          </a:xfrm>
          <a:prstGeom prst="roundRect">
            <a:avLst>
              <a:gd name="adj" fmla="val 6000"/>
            </a:avLst>
          </a:prstGeom>
          <a:solidFill>
            <a:srgbClr val="1E293B"/>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4067" y="1965960"/>
            <a:ext cx="2697480" cy="365760"/>
          </a:xfrm>
          <a:prstGeom prst="rect">
            <a:avLst/>
          </a:prstGeom>
          <a:noFill/>
        </p:spPr>
        <p:txBody>
          <a:bodyPr wrap="square">
            <a:spAutoFit/>
          </a:bodyPr>
          <a:lstStyle/>
          <a:p>
            <a:pPr algn="ctr"/>
            <a:r>
              <a:rPr sz="1400" b="1">
                <a:solidFill>
                  <a:srgbClr val="EF4444"/>
                </a:solidFill>
                <a:latin typeface="Calibri"/>
              </a:rPr>
              <a:t>2. PRELUCRARE</a:t>
            </a:r>
          </a:p>
        </p:txBody>
      </p:sp>
      <p:sp>
        <p:nvSpPr>
          <p:cNvPr id="14" name="TextBox 13"/>
          <p:cNvSpPr txBox="1"/>
          <p:nvPr/>
        </p:nvSpPr>
        <p:spPr>
          <a:xfrm>
            <a:off x="3284067" y="2331720"/>
            <a:ext cx="2697480" cy="457200"/>
          </a:xfrm>
          <a:prstGeom prst="rect">
            <a:avLst/>
          </a:prstGeom>
          <a:noFill/>
        </p:spPr>
        <p:txBody>
          <a:bodyPr wrap="square">
            <a:spAutoFit/>
          </a:bodyPr>
          <a:lstStyle/>
          <a:p>
            <a:pPr algn="ctr"/>
            <a:r>
              <a:rPr sz="1100" b="0">
                <a:solidFill>
                  <a:srgbClr val="94A3B8"/>
                </a:solidFill>
                <a:latin typeface="Calibri"/>
              </a:rPr>
              <a:t>JSON → Parquet curatat</a:t>
            </a:r>
          </a:p>
        </p:txBody>
      </p:sp>
      <p:sp>
        <p:nvSpPr>
          <p:cNvPr id="15" name="Rectangle 14"/>
          <p:cNvSpPr/>
          <p:nvPr/>
        </p:nvSpPr>
        <p:spPr>
          <a:xfrm>
            <a:off x="3649827" y="2834640"/>
            <a:ext cx="1965960" cy="1097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66947" y="2971800"/>
            <a:ext cx="2331720" cy="2560320"/>
          </a:xfrm>
          <a:prstGeom prst="rect">
            <a:avLst/>
          </a:prstGeom>
          <a:noFill/>
        </p:spPr>
        <p:txBody>
          <a:bodyPr wrap="square">
            <a:spAutoFit/>
          </a:bodyPr>
          <a:lstStyle/>
          <a:p>
            <a:pPr algn="l">
              <a:spcAft>
                <a:spcPts val="1000"/>
              </a:spcAft>
            </a:pPr>
            <a:r>
              <a:rPr sz="1300">
                <a:solidFill>
                  <a:srgbClr val="E2E8F0"/>
                </a:solidFill>
                <a:latin typeface="Calibri"/>
              </a:rPr>
              <a:t>▸ Step Functions</a:t>
            </a:r>
          </a:p>
          <a:p>
            <a:pPr algn="l">
              <a:spcAft>
                <a:spcPts val="1000"/>
              </a:spcAft>
            </a:pPr>
            <a:r>
              <a:rPr sz="1300">
                <a:solidFill>
                  <a:srgbClr val="E2E8F0"/>
                </a:solidFill>
                <a:latin typeface="Calibri"/>
              </a:rPr>
              <a:t>▸ Lambda validate</a:t>
            </a:r>
          </a:p>
          <a:p>
            <a:pPr algn="l">
              <a:spcAft>
                <a:spcPts val="1000"/>
              </a:spcAft>
            </a:pPr>
            <a:r>
              <a:rPr sz="1300">
                <a:solidFill>
                  <a:srgbClr val="E2E8F0"/>
                </a:solidFill>
                <a:latin typeface="Calibri"/>
              </a:rPr>
              <a:t>▸ Glue ETL (PySpark)</a:t>
            </a:r>
          </a:p>
          <a:p>
            <a:pPr algn="l">
              <a:spcAft>
                <a:spcPts val="1000"/>
              </a:spcAft>
            </a:pPr>
            <a:r>
              <a:rPr sz="1300">
                <a:solidFill>
                  <a:srgbClr val="E2E8F0"/>
                </a:solidFill>
                <a:latin typeface="Calibri"/>
              </a:rPr>
              <a:t>▸ 13 derivari analitice</a:t>
            </a:r>
          </a:p>
        </p:txBody>
      </p:sp>
      <p:sp>
        <p:nvSpPr>
          <p:cNvPr id="17" name="TextBox 16"/>
          <p:cNvSpPr txBox="1"/>
          <p:nvPr/>
        </p:nvSpPr>
        <p:spPr>
          <a:xfrm>
            <a:off x="5981547" y="3611880"/>
            <a:ext cx="228600" cy="365760"/>
          </a:xfrm>
          <a:prstGeom prst="rect">
            <a:avLst/>
          </a:prstGeom>
          <a:noFill/>
        </p:spPr>
        <p:txBody>
          <a:bodyPr wrap="square">
            <a:spAutoFit/>
          </a:bodyPr>
          <a:lstStyle/>
          <a:p>
            <a:pPr algn="ctr"/>
            <a:r>
              <a:rPr sz="2200" b="1">
                <a:solidFill>
                  <a:srgbClr val="94A3B8"/>
                </a:solidFill>
                <a:latin typeface="Calibri"/>
              </a:rPr>
              <a:t>→</a:t>
            </a:r>
          </a:p>
        </p:txBody>
      </p:sp>
      <p:sp>
        <p:nvSpPr>
          <p:cNvPr id="18" name="Rounded Rectangle 17"/>
          <p:cNvSpPr/>
          <p:nvPr/>
        </p:nvSpPr>
        <p:spPr>
          <a:xfrm>
            <a:off x="6210147" y="1828800"/>
            <a:ext cx="2697480" cy="3840480"/>
          </a:xfrm>
          <a:prstGeom prst="roundRect">
            <a:avLst>
              <a:gd name="adj" fmla="val 6000"/>
            </a:avLst>
          </a:prstGeom>
          <a:solidFill>
            <a:srgbClr val="1E293B"/>
          </a:solidFill>
          <a:ln w="254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0147" y="1965960"/>
            <a:ext cx="2697480" cy="365760"/>
          </a:xfrm>
          <a:prstGeom prst="rect">
            <a:avLst/>
          </a:prstGeom>
          <a:noFill/>
        </p:spPr>
        <p:txBody>
          <a:bodyPr wrap="square">
            <a:spAutoFit/>
          </a:bodyPr>
          <a:lstStyle/>
          <a:p>
            <a:pPr algn="ctr"/>
            <a:r>
              <a:rPr sz="1400" b="1">
                <a:solidFill>
                  <a:srgbClr val="3B82F6"/>
                </a:solidFill>
                <a:latin typeface="Calibri"/>
              </a:rPr>
              <a:t>3. STOCARE</a:t>
            </a:r>
          </a:p>
        </p:txBody>
      </p:sp>
      <p:sp>
        <p:nvSpPr>
          <p:cNvPr id="20" name="TextBox 19"/>
          <p:cNvSpPr txBox="1"/>
          <p:nvPr/>
        </p:nvSpPr>
        <p:spPr>
          <a:xfrm>
            <a:off x="6210147" y="2331720"/>
            <a:ext cx="2697480" cy="457200"/>
          </a:xfrm>
          <a:prstGeom prst="rect">
            <a:avLst/>
          </a:prstGeom>
          <a:noFill/>
        </p:spPr>
        <p:txBody>
          <a:bodyPr wrap="square">
            <a:spAutoFit/>
          </a:bodyPr>
          <a:lstStyle/>
          <a:p>
            <a:pPr algn="ctr"/>
            <a:r>
              <a:rPr sz="1100" b="0">
                <a:solidFill>
                  <a:srgbClr val="94A3B8"/>
                </a:solidFill>
                <a:latin typeface="Calibri"/>
              </a:rPr>
              <a:t>Catalog SQL-queryable</a:t>
            </a:r>
          </a:p>
        </p:txBody>
      </p:sp>
      <p:sp>
        <p:nvSpPr>
          <p:cNvPr id="21" name="Rectangle 20"/>
          <p:cNvSpPr/>
          <p:nvPr/>
        </p:nvSpPr>
        <p:spPr>
          <a:xfrm>
            <a:off x="6575907" y="2834640"/>
            <a:ext cx="1965960" cy="1097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93027" y="2971800"/>
            <a:ext cx="2331720" cy="2560320"/>
          </a:xfrm>
          <a:prstGeom prst="rect">
            <a:avLst/>
          </a:prstGeom>
          <a:noFill/>
        </p:spPr>
        <p:txBody>
          <a:bodyPr wrap="square">
            <a:spAutoFit/>
          </a:bodyPr>
          <a:lstStyle/>
          <a:p>
            <a:pPr algn="l">
              <a:spcAft>
                <a:spcPts val="1000"/>
              </a:spcAft>
            </a:pPr>
            <a:r>
              <a:rPr sz="1300">
                <a:solidFill>
                  <a:srgbClr val="E2E8F0"/>
                </a:solidFill>
                <a:latin typeface="Calibri"/>
              </a:rPr>
              <a:t>▸ S3 processed (Parquet)</a:t>
            </a:r>
          </a:p>
          <a:p>
            <a:pPr algn="l">
              <a:spcAft>
                <a:spcPts val="1000"/>
              </a:spcAft>
            </a:pPr>
            <a:r>
              <a:rPr sz="1300">
                <a:solidFill>
                  <a:srgbClr val="E2E8F0"/>
                </a:solidFill>
                <a:latin typeface="Calibri"/>
              </a:rPr>
              <a:t>▸ Glue Data Catalog</a:t>
            </a:r>
          </a:p>
          <a:p>
            <a:pPr algn="l">
              <a:spcAft>
                <a:spcPts val="1000"/>
              </a:spcAft>
            </a:pPr>
            <a:r>
              <a:rPr sz="1300">
                <a:solidFill>
                  <a:srgbClr val="E2E8F0"/>
                </a:solidFill>
                <a:latin typeface="Calibri"/>
              </a:rPr>
              <a:t>▸ Athena views</a:t>
            </a:r>
          </a:p>
          <a:p>
            <a:pPr algn="l">
              <a:spcAft>
                <a:spcPts val="1000"/>
              </a:spcAft>
            </a:pPr>
            <a:r>
              <a:rPr sz="1300">
                <a:solidFill>
                  <a:srgbClr val="E2E8F0"/>
                </a:solidFill>
                <a:latin typeface="Calibri"/>
              </a:rPr>
              <a:t>▸ Partitionare Hive</a:t>
            </a:r>
          </a:p>
        </p:txBody>
      </p:sp>
      <p:sp>
        <p:nvSpPr>
          <p:cNvPr id="23" name="TextBox 22"/>
          <p:cNvSpPr txBox="1"/>
          <p:nvPr/>
        </p:nvSpPr>
        <p:spPr>
          <a:xfrm>
            <a:off x="8907627" y="3611880"/>
            <a:ext cx="228600" cy="365760"/>
          </a:xfrm>
          <a:prstGeom prst="rect">
            <a:avLst/>
          </a:prstGeom>
          <a:noFill/>
        </p:spPr>
        <p:txBody>
          <a:bodyPr wrap="square">
            <a:spAutoFit/>
          </a:bodyPr>
          <a:lstStyle/>
          <a:p>
            <a:pPr algn="ctr"/>
            <a:r>
              <a:rPr sz="2200" b="1">
                <a:solidFill>
                  <a:srgbClr val="94A3B8"/>
                </a:solidFill>
                <a:latin typeface="Calibri"/>
              </a:rPr>
              <a:t>→</a:t>
            </a:r>
          </a:p>
        </p:txBody>
      </p:sp>
      <p:sp>
        <p:nvSpPr>
          <p:cNvPr id="24" name="Rounded Rectangle 23"/>
          <p:cNvSpPr/>
          <p:nvPr/>
        </p:nvSpPr>
        <p:spPr>
          <a:xfrm>
            <a:off x="9136227" y="1828800"/>
            <a:ext cx="2697480" cy="3840480"/>
          </a:xfrm>
          <a:prstGeom prst="roundRect">
            <a:avLst>
              <a:gd name="adj" fmla="val 6000"/>
            </a:avLst>
          </a:prstGeom>
          <a:solidFill>
            <a:srgbClr val="1E293B"/>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36227" y="1965960"/>
            <a:ext cx="2697480" cy="365760"/>
          </a:xfrm>
          <a:prstGeom prst="rect">
            <a:avLst/>
          </a:prstGeom>
          <a:noFill/>
        </p:spPr>
        <p:txBody>
          <a:bodyPr wrap="square">
            <a:spAutoFit/>
          </a:bodyPr>
          <a:lstStyle/>
          <a:p>
            <a:pPr algn="ctr"/>
            <a:r>
              <a:rPr sz="1400" b="1">
                <a:solidFill>
                  <a:srgbClr val="10B981"/>
                </a:solidFill>
                <a:latin typeface="Calibri"/>
              </a:rPr>
              <a:t>4. AFISARE</a:t>
            </a:r>
          </a:p>
        </p:txBody>
      </p:sp>
      <p:sp>
        <p:nvSpPr>
          <p:cNvPr id="26" name="TextBox 25"/>
          <p:cNvSpPr txBox="1"/>
          <p:nvPr/>
        </p:nvSpPr>
        <p:spPr>
          <a:xfrm>
            <a:off x="9136227" y="2331720"/>
            <a:ext cx="2697480" cy="457200"/>
          </a:xfrm>
          <a:prstGeom prst="rect">
            <a:avLst/>
          </a:prstGeom>
          <a:noFill/>
        </p:spPr>
        <p:txBody>
          <a:bodyPr wrap="square">
            <a:spAutoFit/>
          </a:bodyPr>
          <a:lstStyle/>
          <a:p>
            <a:pPr algn="ctr"/>
            <a:r>
              <a:rPr sz="1100" b="0">
                <a:solidFill>
                  <a:srgbClr val="94A3B8"/>
                </a:solidFill>
                <a:latin typeface="Calibri"/>
              </a:rPr>
              <a:t>Date → utilizator final</a:t>
            </a:r>
          </a:p>
        </p:txBody>
      </p:sp>
      <p:sp>
        <p:nvSpPr>
          <p:cNvPr id="27" name="Rectangle 26"/>
          <p:cNvSpPr/>
          <p:nvPr/>
        </p:nvSpPr>
        <p:spPr>
          <a:xfrm>
            <a:off x="9501987" y="2834640"/>
            <a:ext cx="1965960" cy="1097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19107" y="2971800"/>
            <a:ext cx="2331720" cy="2560320"/>
          </a:xfrm>
          <a:prstGeom prst="rect">
            <a:avLst/>
          </a:prstGeom>
          <a:noFill/>
        </p:spPr>
        <p:txBody>
          <a:bodyPr wrap="square">
            <a:spAutoFit/>
          </a:bodyPr>
          <a:lstStyle/>
          <a:p>
            <a:pPr algn="l">
              <a:spcAft>
                <a:spcPts val="1000"/>
              </a:spcAft>
            </a:pPr>
            <a:r>
              <a:rPr sz="1300">
                <a:solidFill>
                  <a:srgbClr val="E2E8F0"/>
                </a:solidFill>
                <a:latin typeface="Calibri"/>
              </a:rPr>
              <a:t>▸ QuickSight dashboard</a:t>
            </a:r>
          </a:p>
          <a:p>
            <a:pPr algn="l">
              <a:spcAft>
                <a:spcPts val="1000"/>
              </a:spcAft>
            </a:pPr>
            <a:r>
              <a:rPr sz="1300">
                <a:solidFill>
                  <a:srgbClr val="E2E8F0"/>
                </a:solidFill>
                <a:latin typeface="Calibri"/>
              </a:rPr>
              <a:t>▸ Frontend HTML/JS</a:t>
            </a:r>
          </a:p>
          <a:p>
            <a:pPr algn="l">
              <a:spcAft>
                <a:spcPts val="1000"/>
              </a:spcAft>
            </a:pPr>
            <a:r>
              <a:rPr sz="1300">
                <a:solidFill>
                  <a:srgbClr val="E2E8F0"/>
                </a:solidFill>
                <a:latin typeface="Calibri"/>
              </a:rPr>
              <a:t>▸ Lambda export</a:t>
            </a:r>
          </a:p>
          <a:p>
            <a:pPr algn="l">
              <a:spcAft>
                <a:spcPts val="1000"/>
              </a:spcAft>
            </a:pPr>
            <a:r>
              <a:rPr sz="1300">
                <a:solidFill>
                  <a:srgbClr val="E2E8F0"/>
                </a:solidFill>
                <a:latin typeface="Calibri"/>
              </a:rPr>
              <a:t>▸ CSV / Excel / JSON</a:t>
            </a:r>
          </a:p>
        </p:txBody>
      </p:sp>
      <p:sp>
        <p:nvSpPr>
          <p:cNvPr id="29" name="Rounded Rectangle 28"/>
          <p:cNvSpPr/>
          <p:nvPr/>
        </p:nvSpPr>
        <p:spPr>
          <a:xfrm>
            <a:off x="457200" y="5989320"/>
            <a:ext cx="11247120" cy="640080"/>
          </a:xfrm>
          <a:prstGeom prst="roundRect">
            <a:avLst>
              <a:gd name="adj" fmla="val 6000"/>
            </a:avLst>
          </a:prstGeom>
          <a:solidFill>
            <a:srgbClr val="1E293B"/>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6089904"/>
            <a:ext cx="10972800" cy="457200"/>
          </a:xfrm>
          <a:prstGeom prst="rect">
            <a:avLst/>
          </a:prstGeom>
          <a:noFill/>
        </p:spPr>
        <p:txBody>
          <a:bodyPr wrap="square">
            <a:spAutoFit/>
          </a:bodyPr>
          <a:lstStyle/>
          <a:p>
            <a:pPr algn="ctr"/>
            <a:r>
              <a:rPr sz="1200" b="1">
                <a:solidFill>
                  <a:srgbClr val="E2E8F0"/>
                </a:solidFill>
                <a:latin typeface="Calibri"/>
              </a:rPr>
              <a:t>06:00 UTC declansare → 06:03 UTC date in catalog → la cerere user vede dashboard / exporta date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777240"/>
          </a:xfrm>
          <a:prstGeom prst="rect">
            <a:avLst/>
          </a:prstGeom>
          <a:noFill/>
        </p:spPr>
        <p:txBody>
          <a:bodyPr wrap="square">
            <a:spAutoFit/>
          </a:bodyPr>
          <a:lstStyle/>
          <a:p>
            <a:pPr algn="l"/>
            <a:r>
              <a:rPr sz="3200" b="1">
                <a:solidFill>
                  <a:srgbClr val="E2E8F0"/>
                </a:solidFill>
                <a:latin typeface="Calibri"/>
              </a:rPr>
              <a:t>Concluzii</a:t>
            </a:r>
          </a:p>
        </p:txBody>
      </p:sp>
      <p:sp>
        <p:nvSpPr>
          <p:cNvPr id="5" name="TextBox 4"/>
          <p:cNvSpPr txBox="1"/>
          <p:nvPr/>
        </p:nvSpPr>
        <p:spPr>
          <a:xfrm>
            <a:off x="457200" y="960120"/>
            <a:ext cx="10972800" cy="457200"/>
          </a:xfrm>
          <a:prstGeom prst="rect">
            <a:avLst/>
          </a:prstGeom>
          <a:noFill/>
        </p:spPr>
        <p:txBody>
          <a:bodyPr wrap="square">
            <a:spAutoFit/>
          </a:bodyPr>
          <a:lstStyle/>
          <a:p>
            <a:pPr algn="l"/>
            <a:r>
              <a:rPr sz="1500" b="0">
                <a:solidFill>
                  <a:srgbClr val="94A3B8"/>
                </a:solidFill>
                <a:latin typeface="Calibri"/>
              </a:rPr>
              <a:t>9 servicii AWS · pipeline complet · arhitectura production-ready</a:t>
            </a:r>
          </a:p>
        </p:txBody>
      </p:sp>
      <p:sp>
        <p:nvSpPr>
          <p:cNvPr id="6" name="TextBox 5"/>
          <p:cNvSpPr txBox="1"/>
          <p:nvPr/>
        </p:nvSpPr>
        <p:spPr>
          <a:xfrm>
            <a:off x="640080" y="1783080"/>
            <a:ext cx="10972800" cy="3200400"/>
          </a:xfrm>
          <a:prstGeom prst="rect">
            <a:avLst/>
          </a:prstGeom>
          <a:noFill/>
        </p:spPr>
        <p:txBody>
          <a:bodyPr wrap="square">
            <a:spAutoFit/>
          </a:bodyPr>
          <a:lstStyle/>
          <a:p>
            <a:pPr algn="l">
              <a:spcAft>
                <a:spcPts val="800"/>
              </a:spcAft>
            </a:pPr>
            <a:r>
              <a:rPr sz="1500">
                <a:solidFill>
                  <a:srgbClr val="E2E8F0"/>
                </a:solidFill>
                <a:latin typeface="Calibri"/>
              </a:rPr>
              <a:t>•  Pipeline ETL serverless complet integrat cu 9 servicii AWS — depaseste cerinta de 8 servicii</a:t>
            </a:r>
          </a:p>
          <a:p>
            <a:pPr algn="l">
              <a:spcAft>
                <a:spcPts val="800"/>
              </a:spcAft>
            </a:pPr>
            <a:r>
              <a:rPr sz="1500">
                <a:solidFill>
                  <a:srgbClr val="E2E8F0"/>
                </a:solidFill>
                <a:latin typeface="Calibri"/>
              </a:rPr>
              <a:t>•  Step Functions ⭐ ca serviciu nou — orchestrare vizuala cu retry / catch automat</a:t>
            </a:r>
          </a:p>
          <a:p>
            <a:pPr algn="l">
              <a:spcAft>
                <a:spcPts val="800"/>
              </a:spcAft>
            </a:pPr>
            <a:r>
              <a:rPr sz="1500">
                <a:solidFill>
                  <a:srgbClr val="E2E8F0"/>
                </a:solidFill>
                <a:latin typeface="Calibri"/>
              </a:rPr>
              <a:t>•  Acoperire layere: Trigger · Ingestion · Orchestration · Processing · Analytics · Visualization</a:t>
            </a:r>
          </a:p>
          <a:p>
            <a:pPr algn="l">
              <a:spcAft>
                <a:spcPts val="800"/>
              </a:spcAft>
            </a:pPr>
            <a:r>
              <a:rPr sz="1500">
                <a:solidFill>
                  <a:srgbClr val="E2E8F0"/>
                </a:solidFill>
                <a:latin typeface="Calibri"/>
              </a:rPr>
              <a:t>•  Dataset real: 5 orase romanesti, 119 zile, 14 280 randuri orare procesate</a:t>
            </a:r>
          </a:p>
          <a:p>
            <a:pPr algn="l">
              <a:spcAft>
                <a:spcPts val="800"/>
              </a:spcAft>
            </a:pPr>
            <a:r>
              <a:rPr sz="1500">
                <a:solidFill>
                  <a:srgbClr val="E2E8F0"/>
                </a:solidFill>
                <a:latin typeface="Calibri"/>
              </a:rPr>
              <a:t>•  Cost AWS estimat: ~$2–20/luna · cost local-first: $0</a:t>
            </a:r>
          </a:p>
          <a:p>
            <a:pPr algn="l">
              <a:spcAft>
                <a:spcPts val="800"/>
              </a:spcAft>
            </a:pPr>
            <a:r>
              <a:rPr sz="1500">
                <a:solidFill>
                  <a:srgbClr val="E2E8F0"/>
                </a:solidFill>
                <a:latin typeface="Calibri"/>
              </a:rPr>
              <a:t>•  12 teste pytest verzi · documentatie completa · 4 pagini dashboard livrate</a:t>
            </a:r>
          </a:p>
        </p:txBody>
      </p:sp>
      <p:sp>
        <p:nvSpPr>
          <p:cNvPr id="7" name="Rounded Rectangle 6"/>
          <p:cNvSpPr/>
          <p:nvPr/>
        </p:nvSpPr>
        <p:spPr>
          <a:xfrm>
            <a:off x="640080" y="5120640"/>
            <a:ext cx="10972800" cy="1280160"/>
          </a:xfrm>
          <a:prstGeom prst="roundRect">
            <a:avLst>
              <a:gd name="adj" fmla="val 6000"/>
            </a:avLst>
          </a:prstGeom>
          <a:solidFill>
            <a:srgbClr val="1E29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5285232"/>
            <a:ext cx="10607040" cy="548640"/>
          </a:xfrm>
          <a:prstGeom prst="rect">
            <a:avLst/>
          </a:prstGeom>
          <a:noFill/>
        </p:spPr>
        <p:txBody>
          <a:bodyPr wrap="square">
            <a:spAutoFit/>
          </a:bodyPr>
          <a:lstStyle/>
          <a:p>
            <a:pPr algn="ctr"/>
            <a:r>
              <a:rPr sz="3200" b="1">
                <a:solidFill>
                  <a:srgbClr val="10B981"/>
                </a:solidFill>
                <a:latin typeface="Calibri"/>
              </a:rPr>
              <a:t>Multumesc!</a:t>
            </a:r>
          </a:p>
        </p:txBody>
      </p:sp>
      <p:sp>
        <p:nvSpPr>
          <p:cNvPr id="9" name="TextBox 8"/>
          <p:cNvSpPr txBox="1"/>
          <p:nvPr/>
        </p:nvSpPr>
        <p:spPr>
          <a:xfrm>
            <a:off x="822960" y="5852160"/>
            <a:ext cx="10607040" cy="457200"/>
          </a:xfrm>
          <a:prstGeom prst="rect">
            <a:avLst/>
          </a:prstGeom>
          <a:noFill/>
        </p:spPr>
        <p:txBody>
          <a:bodyPr wrap="square">
            <a:spAutoFit/>
          </a:bodyPr>
          <a:lstStyle/>
          <a:p>
            <a:pPr algn="ctr"/>
            <a:r>
              <a:rPr sz="1400" b="0">
                <a:solidFill>
                  <a:srgbClr val="94A3B8"/>
                </a:solidFill>
                <a:latin typeface="Calibri"/>
              </a:rPr>
              <a:t>Demo: streamlit run dashboard/app.py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345</TotalTime>
  <Words>2693</Words>
  <Application>Microsoft Office PowerPoint</Application>
  <PresentationFormat>Widescreen</PresentationFormat>
  <Paragraphs>297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Alex Marcean</cp:lastModifiedBy>
  <cp:revision>5</cp:revision>
  <dcterms:created xsi:type="dcterms:W3CDTF">2013-01-27T09:14:16Z</dcterms:created>
  <dcterms:modified xsi:type="dcterms:W3CDTF">2026-04-30T21:27:13Z</dcterms:modified>
  <cp:category/>
</cp:coreProperties>
</file>